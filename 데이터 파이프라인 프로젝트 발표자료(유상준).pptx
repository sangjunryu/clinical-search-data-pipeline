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제목 슬라이드">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ko-KR" sz="6000" strike="noStrike" u="none">
                <a:solidFill>
                  <a:schemeClr val="dk1"/>
                </a:solidFill>
                <a:effectLst/>
                <a:uFillTx/>
                <a:latin typeface="맑은 고딕"/>
              </a:rPr>
              <a:t>마스터 제목 스타일 편집</a:t>
            </a:r>
            <a:endParaRPr b="0" lang="en-US" sz="6000" strike="noStrike" u="none">
              <a:solidFill>
                <a:schemeClr val="dk1"/>
              </a:solidFill>
              <a:effectLst/>
              <a:uFillTx/>
              <a:latin typeface="맑은 고딕"/>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6E889C73-93DF-4913-92AD-7FAB9DE4E7B1}"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맑은 고딕"/>
              </a:rPr>
              <a:t>Click to edit the outline text format</a:t>
            </a:r>
            <a:endParaRPr b="0" lang="en-US" sz="2800" strike="noStrike" u="none">
              <a:solidFill>
                <a:schemeClr val="dk1"/>
              </a:solidFill>
              <a:effectLst/>
              <a:uFillTx/>
              <a:latin typeface="맑은 고딕"/>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맑은 고딕"/>
              </a:rPr>
              <a:t>Second Outline Level</a:t>
            </a:r>
            <a:endParaRPr b="0" lang="en-US" sz="2000" strike="noStrike" u="none">
              <a:solidFill>
                <a:schemeClr val="dk1"/>
              </a:solidFill>
              <a:effectLst/>
              <a:uFillTx/>
              <a:latin typeface="맑은 고딕"/>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맑은 고딕"/>
              </a:rPr>
              <a:t>Third Outline Level</a:t>
            </a:r>
            <a:endParaRPr b="0" lang="en-US" sz="1800" strike="noStrike" u="none">
              <a:solidFill>
                <a:schemeClr val="dk1"/>
              </a:solidFill>
              <a:effectLst/>
              <a:uFillTx/>
              <a:latin typeface="맑은 고딕"/>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맑은 고딕"/>
              </a:rPr>
              <a:t>Fourth Outline Level</a:t>
            </a:r>
            <a:endParaRPr b="0" lang="en-US" sz="1800" strike="noStrike" u="none">
              <a:solidFill>
                <a:schemeClr val="dk1"/>
              </a:solidFill>
              <a:effectLst/>
              <a:uFillTx/>
              <a:latin typeface="맑은 고딕"/>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맑은 고딕"/>
              </a:rPr>
              <a:t>Fifth Outline Level</a:t>
            </a:r>
            <a:endParaRPr b="0" lang="en-US" sz="2000" strike="noStrike" u="none">
              <a:solidFill>
                <a:schemeClr val="dk1"/>
              </a:solidFill>
              <a:effectLst/>
              <a:uFillTx/>
              <a:latin typeface="맑은 고딕"/>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맑은 고딕"/>
              </a:rPr>
              <a:t>Sixth Outline Level</a:t>
            </a:r>
            <a:endParaRPr b="0" lang="en-US" sz="2000" strike="noStrike" u="none">
              <a:solidFill>
                <a:schemeClr val="dk1"/>
              </a:solidFill>
              <a:effectLst/>
              <a:uFillTx/>
              <a:latin typeface="맑은 고딕"/>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맑은 고딕"/>
              </a:rPr>
              <a:t>Seventh Outline Level</a:t>
            </a:r>
            <a:endParaRPr b="0" lang="en-US" sz="2000" strike="noStrike" u="none">
              <a:solidFill>
                <a:schemeClr val="dk1"/>
              </a:solidFill>
              <a:effectLst/>
              <a:uFillTx/>
              <a:latin typeface="맑은 고딕"/>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제목 및 세로 텍스트">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D198987A-8DBD-4768-8132-9A5C6FE797B1}"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세로 제목 및 텍스트">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871DF6A2-EE33-4D28-AD3C-64C235949A6E}"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제목 및 내용">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8D2889B8-AEC0-47F5-BE7A-703CC0821908}"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구역 머리글">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ko-KR" sz="6000" strike="noStrike" u="none">
                <a:solidFill>
                  <a:schemeClr val="dk1"/>
                </a:solidFill>
                <a:effectLst/>
                <a:uFillTx/>
                <a:latin typeface="맑은 고딕"/>
              </a:rPr>
              <a:t>마스터 제목 스타일 편집</a:t>
            </a:r>
            <a:endParaRPr b="0" lang="en-US" sz="6000" strike="noStrike" u="none">
              <a:solidFill>
                <a:schemeClr val="dk1"/>
              </a:solidFill>
              <a:effectLst/>
              <a:uFillTx/>
              <a:latin typeface="맑은 고딕"/>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ko-KR" sz="2400" strike="noStrike" u="none">
                <a:solidFill>
                  <a:schemeClr val="dk1">
                    <a:tint val="75000"/>
                  </a:schemeClr>
                </a:solidFill>
                <a:effectLst/>
                <a:uFillTx/>
                <a:latin typeface="맑은 고딕"/>
              </a:rPr>
              <a:t>마스터 텍스트 스타일 편집</a:t>
            </a:r>
            <a:endParaRPr b="0" lang="en-US" sz="2400" strike="noStrike" u="none">
              <a:solidFill>
                <a:schemeClr val="dk1"/>
              </a:solidFill>
              <a:effectLst/>
              <a:uFillTx/>
              <a:latin typeface="맑은 고딕"/>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E50F2E3C-AD3B-41B0-B9D3-27FA82F437E8}"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콘텐츠 2개">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B48AC1C0-8D53-4A6A-B5E4-4412E79A369A}"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비교">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ko-KR" sz="2400" strike="noStrike" u="none">
                <a:solidFill>
                  <a:schemeClr val="dk1"/>
                </a:solidFill>
                <a:effectLst/>
                <a:uFillTx/>
                <a:latin typeface="맑은 고딕"/>
              </a:rPr>
              <a:t>마스터 텍스트 스타일 편집</a:t>
            </a:r>
            <a:endParaRPr b="0" lang="en-US" sz="2400" strike="noStrike" u="none">
              <a:solidFill>
                <a:schemeClr val="dk1"/>
              </a:solidFill>
              <a:effectLst/>
              <a:uFillTx/>
              <a:latin typeface="맑은 고딕"/>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ko-KR" sz="2400" strike="noStrike" u="none">
                <a:solidFill>
                  <a:schemeClr val="dk1"/>
                </a:solidFill>
                <a:effectLst/>
                <a:uFillTx/>
                <a:latin typeface="맑은 고딕"/>
              </a:rPr>
              <a:t>마스터 텍스트 스타일 편집</a:t>
            </a:r>
            <a:endParaRPr b="0" lang="en-US" sz="2400" strike="noStrike" u="none">
              <a:solidFill>
                <a:schemeClr val="dk1"/>
              </a:solidFill>
              <a:effectLst/>
              <a:uFillTx/>
              <a:latin typeface="맑은 고딕"/>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2800" strike="noStrike" u="none">
                <a:solidFill>
                  <a:schemeClr val="dk1"/>
                </a:solidFill>
                <a:effectLst/>
                <a:uFillTx/>
                <a:latin typeface="맑은 고딕"/>
              </a:rPr>
              <a:t>마스터 텍스트 스타일 편집</a:t>
            </a:r>
            <a:endParaRPr b="0" lang="en-US" sz="28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둘째 수준</a:t>
            </a:r>
            <a:endParaRPr b="0" lang="en-US" sz="24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셋째 수준</a:t>
            </a:r>
            <a:endParaRPr b="0" lang="en-US" sz="20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넷째 수준</a:t>
            </a:r>
            <a:endParaRPr b="0" lang="en-US" sz="18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1800" strike="noStrike" u="none">
                <a:solidFill>
                  <a:schemeClr val="dk1"/>
                </a:solidFill>
                <a:effectLst/>
                <a:uFillTx/>
                <a:latin typeface="맑은 고딕"/>
              </a:rPr>
              <a:t>다섯째 수준</a:t>
            </a:r>
            <a:endParaRPr b="0" lang="en-US" sz="1800" strike="noStrike" u="none">
              <a:solidFill>
                <a:schemeClr val="dk1"/>
              </a:solidFill>
              <a:effectLst/>
              <a:uFillTx/>
              <a:latin typeface="맑은 고딕"/>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153F737B-1C83-420B-B10B-8DAF969F806B}"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제목만">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ko-KR" sz="4400" strike="noStrike" u="none">
                <a:solidFill>
                  <a:schemeClr val="dk1"/>
                </a:solidFill>
                <a:effectLst/>
                <a:uFillTx/>
                <a:latin typeface="맑은 고딕"/>
              </a:rPr>
              <a:t>마스터 제목 스타일 편집</a:t>
            </a:r>
            <a:endParaRPr b="0" lang="en-US" sz="4400" strike="noStrike" u="none">
              <a:solidFill>
                <a:schemeClr val="dk1"/>
              </a:solidFill>
              <a:effectLst/>
              <a:uFillTx/>
              <a:latin typeface="맑은 고딕"/>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D9543E8A-13F9-42BB-A698-535610D6C915}"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빈 화면">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B9CBA9EE-33E7-4192-A133-2CEC70EBD71D}"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캡션 있는 콘텐츠">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ko-KR" sz="3200" strike="noStrike" u="none">
                <a:solidFill>
                  <a:schemeClr val="dk1"/>
                </a:solidFill>
                <a:effectLst/>
                <a:uFillTx/>
                <a:latin typeface="맑은 고딕"/>
              </a:rPr>
              <a:t>마스터 제목 스타일 편집</a:t>
            </a:r>
            <a:endParaRPr b="0" lang="en-US" sz="3200" strike="noStrike" u="none">
              <a:solidFill>
                <a:schemeClr val="dk1"/>
              </a:solidFill>
              <a:effectLst/>
              <a:uFillTx/>
              <a:latin typeface="맑은 고딕"/>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ko-KR" sz="3200" strike="noStrike" u="none">
                <a:solidFill>
                  <a:schemeClr val="dk1"/>
                </a:solidFill>
                <a:effectLst/>
                <a:uFillTx/>
                <a:latin typeface="맑은 고딕"/>
              </a:rPr>
              <a:t>마스터 텍스트 스타일 편집</a:t>
            </a:r>
            <a:endParaRPr b="0" lang="en-US" sz="3200" strike="noStrike" u="none">
              <a:solidFill>
                <a:schemeClr val="dk1"/>
              </a:solidFill>
              <a:effectLst/>
              <a:uFillTx/>
              <a:latin typeface="맑은 고딕"/>
            </a:endParaRPr>
          </a:p>
          <a:p>
            <a:pPr lvl="1" marL="685800" indent="-228600" defTabSz="914400">
              <a:lnSpc>
                <a:spcPct val="90000"/>
              </a:lnSpc>
              <a:spcBef>
                <a:spcPts val="499"/>
              </a:spcBef>
              <a:buClr>
                <a:srgbClr val="000000"/>
              </a:buClr>
              <a:buFont typeface="Arial"/>
              <a:buChar char="•"/>
            </a:pPr>
            <a:r>
              <a:rPr b="0" lang="ko-KR" sz="2800" strike="noStrike" u="none">
                <a:solidFill>
                  <a:schemeClr val="dk1"/>
                </a:solidFill>
                <a:effectLst/>
                <a:uFillTx/>
                <a:latin typeface="맑은 고딕"/>
              </a:rPr>
              <a:t>둘째 수준</a:t>
            </a:r>
            <a:endParaRPr b="0" lang="en-US" sz="2800" strike="noStrike" u="none">
              <a:solidFill>
                <a:schemeClr val="dk1"/>
              </a:solidFill>
              <a:effectLst/>
              <a:uFillTx/>
              <a:latin typeface="맑은 고딕"/>
            </a:endParaRPr>
          </a:p>
          <a:p>
            <a:pPr lvl="2" marL="1143000" indent="-228600" defTabSz="914400">
              <a:lnSpc>
                <a:spcPct val="90000"/>
              </a:lnSpc>
              <a:spcBef>
                <a:spcPts val="499"/>
              </a:spcBef>
              <a:buClr>
                <a:srgbClr val="000000"/>
              </a:buClr>
              <a:buFont typeface="Arial"/>
              <a:buChar char="•"/>
            </a:pPr>
            <a:r>
              <a:rPr b="0" lang="ko-KR" sz="2400" strike="noStrike" u="none">
                <a:solidFill>
                  <a:schemeClr val="dk1"/>
                </a:solidFill>
                <a:effectLst/>
                <a:uFillTx/>
                <a:latin typeface="맑은 고딕"/>
              </a:rPr>
              <a:t>셋째 수준</a:t>
            </a:r>
            <a:endParaRPr b="0" lang="en-US" sz="2400" strike="noStrike" u="none">
              <a:solidFill>
                <a:schemeClr val="dk1"/>
              </a:solidFill>
              <a:effectLst/>
              <a:uFillTx/>
              <a:latin typeface="맑은 고딕"/>
            </a:endParaRPr>
          </a:p>
          <a:p>
            <a:pPr lvl="3" marL="16002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넷째 수준</a:t>
            </a:r>
            <a:endParaRPr b="0" lang="en-US" sz="2000" strike="noStrike" u="none">
              <a:solidFill>
                <a:schemeClr val="dk1"/>
              </a:solidFill>
              <a:effectLst/>
              <a:uFillTx/>
              <a:latin typeface="맑은 고딕"/>
            </a:endParaRPr>
          </a:p>
          <a:p>
            <a:pPr lvl="4" marL="2057400" indent="-228600" defTabSz="914400">
              <a:lnSpc>
                <a:spcPct val="90000"/>
              </a:lnSpc>
              <a:spcBef>
                <a:spcPts val="499"/>
              </a:spcBef>
              <a:buClr>
                <a:srgbClr val="000000"/>
              </a:buClr>
              <a:buFont typeface="Arial"/>
              <a:buChar char="•"/>
            </a:pPr>
            <a:r>
              <a:rPr b="0" lang="ko-KR" sz="2000" strike="noStrike" u="none">
                <a:solidFill>
                  <a:schemeClr val="dk1"/>
                </a:solidFill>
                <a:effectLst/>
                <a:uFillTx/>
                <a:latin typeface="맑은 고딕"/>
              </a:rPr>
              <a:t>다섯째 수준</a:t>
            </a:r>
            <a:endParaRPr b="0" lang="en-US" sz="2000" strike="noStrike" u="none">
              <a:solidFill>
                <a:schemeClr val="dk1"/>
              </a:solidFill>
              <a:effectLst/>
              <a:uFillTx/>
              <a:latin typeface="맑은 고딕"/>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ko-KR" sz="1600" strike="noStrike" u="none">
                <a:solidFill>
                  <a:schemeClr val="dk1"/>
                </a:solidFill>
                <a:effectLst/>
                <a:uFillTx/>
                <a:latin typeface="맑은 고딕"/>
              </a:rPr>
              <a:t>마스터 텍스트 스타일 편집</a:t>
            </a:r>
            <a:endParaRPr b="0" lang="en-US" sz="1600" strike="noStrike" u="none">
              <a:solidFill>
                <a:schemeClr val="dk1"/>
              </a:solidFill>
              <a:effectLst/>
              <a:uFillTx/>
              <a:latin typeface="맑은 고딕"/>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922DA874-8D4F-4112-AC39-6828A4486F76}"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캡션 있는 그림">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ko-KR" sz="3200" strike="noStrike" u="none">
                <a:solidFill>
                  <a:schemeClr val="dk1"/>
                </a:solidFill>
                <a:effectLst/>
                <a:uFillTx/>
                <a:latin typeface="맑은 고딕"/>
              </a:rPr>
              <a:t>마스터 제목 스타일 편집</a:t>
            </a:r>
            <a:endParaRPr b="0" lang="en-US" sz="3200" strike="noStrike" u="none">
              <a:solidFill>
                <a:schemeClr val="dk1"/>
              </a:solidFill>
              <a:effectLst/>
              <a:uFillTx/>
              <a:latin typeface="맑은 고딕"/>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trike="noStrike" u="none">
                <a:solidFill>
                  <a:schemeClr val="dk1"/>
                </a:solidFill>
                <a:effectLst/>
                <a:uFillTx/>
                <a:latin typeface="맑은 고딕"/>
              </a:rPr>
              <a:t>Click to edit the outline text format</a:t>
            </a:r>
            <a:endParaRPr b="0" lang="en-US" sz="3200" strike="noStrike" u="none">
              <a:solidFill>
                <a:schemeClr val="dk1"/>
              </a:solidFill>
              <a:effectLst/>
              <a:uFillTx/>
              <a:latin typeface="맑은 고딕"/>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effectLst/>
                <a:uFillTx/>
                <a:latin typeface="맑은 고딕"/>
              </a:rPr>
              <a:t>Second Outline Level</a:t>
            </a:r>
            <a:endParaRPr b="0" lang="en-US" sz="3200" strike="noStrike" u="none">
              <a:solidFill>
                <a:schemeClr val="dk1"/>
              </a:solidFill>
              <a:effectLst/>
              <a:uFillTx/>
              <a:latin typeface="맑은 고딕"/>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effectLst/>
                <a:uFillTx/>
                <a:latin typeface="맑은 고딕"/>
              </a:rPr>
              <a:t>Third Outline Level</a:t>
            </a:r>
            <a:endParaRPr b="0" lang="en-US" sz="3200" strike="noStrike" u="none">
              <a:solidFill>
                <a:schemeClr val="dk1"/>
              </a:solidFill>
              <a:effectLst/>
              <a:uFillTx/>
              <a:latin typeface="맑은 고딕"/>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effectLst/>
                <a:uFillTx/>
                <a:latin typeface="맑은 고딕"/>
              </a:rPr>
              <a:t>Fourth Outline Level</a:t>
            </a:r>
            <a:endParaRPr b="0" lang="en-US" sz="3200" strike="noStrike" u="none">
              <a:solidFill>
                <a:schemeClr val="dk1"/>
              </a:solidFill>
              <a:effectLst/>
              <a:uFillTx/>
              <a:latin typeface="맑은 고딕"/>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맑은 고딕"/>
              </a:rPr>
              <a:t>Fifth Outline Level</a:t>
            </a:r>
            <a:endParaRPr b="0" lang="en-US" sz="3200" strike="noStrike" u="none">
              <a:solidFill>
                <a:schemeClr val="dk1"/>
              </a:solidFill>
              <a:effectLst/>
              <a:uFillTx/>
              <a:latin typeface="맑은 고딕"/>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맑은 고딕"/>
              </a:rPr>
              <a:t>Sixth Outline Level</a:t>
            </a:r>
            <a:endParaRPr b="0" lang="en-US" sz="3200" strike="noStrike" u="none">
              <a:solidFill>
                <a:schemeClr val="dk1"/>
              </a:solidFill>
              <a:effectLst/>
              <a:uFillTx/>
              <a:latin typeface="맑은 고딕"/>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맑은 고딕"/>
              </a:rPr>
              <a:t>Seventh Outline Level</a:t>
            </a:r>
            <a:endParaRPr b="0" lang="en-US" sz="3200" strike="noStrike" u="none">
              <a:solidFill>
                <a:schemeClr val="dk1"/>
              </a:solidFill>
              <a:effectLst/>
              <a:uFillTx/>
              <a:latin typeface="맑은 고딕"/>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ko-KR" sz="1600" strike="noStrike" u="none">
                <a:solidFill>
                  <a:schemeClr val="dk1"/>
                </a:solidFill>
                <a:effectLst/>
                <a:uFillTx/>
                <a:latin typeface="맑은 고딕"/>
              </a:rPr>
              <a:t>마스터 텍스트 스타일 편집</a:t>
            </a:r>
            <a:endParaRPr b="0" lang="en-US" sz="1600" strike="noStrike" u="none">
              <a:solidFill>
                <a:schemeClr val="dk1"/>
              </a:solidFill>
              <a:effectLst/>
              <a:uFillTx/>
              <a:latin typeface="맑은 고딕"/>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맑은 고딕"/>
              </a:defRPr>
            </a:lvl1pPr>
          </a:lstStyle>
          <a:p>
            <a:pPr indent="0" defTabSz="914400">
              <a:lnSpc>
                <a:spcPct val="100000"/>
              </a:lnSpc>
              <a:buNone/>
            </a:pPr>
            <a:r>
              <a:rPr b="0" lang="en-US" sz="1200" strike="noStrike" u="none">
                <a:solidFill>
                  <a:schemeClr val="dk1">
                    <a:tint val="75000"/>
                  </a:schemeClr>
                </a:solidFill>
                <a:effectLst/>
                <a:uFillTx/>
                <a:latin typeface="맑은 고딕"/>
              </a:rPr>
              <a:t>&lt;date/time&gt;</a:t>
            </a:r>
            <a:endParaRPr b="0" lang="en-US" sz="1200" strike="noStrike" u="non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맑은 고딕"/>
              </a:defRPr>
            </a:lvl1pPr>
          </a:lstStyle>
          <a:p>
            <a:pPr indent="0" algn="r" defTabSz="914400">
              <a:lnSpc>
                <a:spcPct val="100000"/>
              </a:lnSpc>
              <a:buNone/>
            </a:pPr>
            <a:fld id="{D3521212-6F64-4FA2-B0B3-6B22424C9095}" type="slidenum">
              <a:rPr b="0" lang="en-US" sz="1200" strike="noStrike" u="none">
                <a:solidFill>
                  <a:schemeClr val="dk1">
                    <a:tint val="75000"/>
                  </a:schemeClr>
                </a:solidFill>
                <a:effectLst/>
                <a:uFillTx/>
                <a:latin typeface="맑은 고딕"/>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hyperlink" Target="https://tripdatabase.github.io/tripclick/" TargetMode="External"/><Relationship Id="rId2" Type="http://schemas.openxmlformats.org/officeDocument/2006/relationships/hyperlink" Target="https://www.tripdatabase.com/" TargetMode="External"/><Relationship Id="rId3" Type="http://schemas.openxmlformats.org/officeDocument/2006/relationships/hyperlink" Target="https://arxiv.org/abs/2103.07901" TargetMode="External"/><Relationship Id="rId4"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60" name="TextBox 30"/>
          <p:cNvSpPr/>
          <p:nvPr/>
        </p:nvSpPr>
        <p:spPr>
          <a:xfrm rot="5400000">
            <a:off x="-328320" y="3313440"/>
            <a:ext cx="1178280" cy="2304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61" name="TextBox 9"/>
          <p:cNvSpPr/>
          <p:nvPr/>
        </p:nvSpPr>
        <p:spPr>
          <a:xfrm>
            <a:off x="4896720" y="2214000"/>
            <a:ext cx="2397960" cy="14770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endParaRPr b="0" lang="en-US" sz="1800" strike="noStrike" u="none">
              <a:solidFill>
                <a:srgbClr val="000000"/>
              </a:solidFill>
              <a:effectLst/>
              <a:uFillTx/>
              <a:latin typeface="Arial"/>
            </a:endParaRPr>
          </a:p>
        </p:txBody>
      </p:sp>
      <p:sp>
        <p:nvSpPr>
          <p:cNvPr id="62" name="TextBox 10"/>
          <p:cNvSpPr/>
          <p:nvPr/>
        </p:nvSpPr>
        <p:spPr>
          <a:xfrm>
            <a:off x="1143000" y="2971800"/>
            <a:ext cx="6458040" cy="21481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4500" spc="-150" strike="noStrike" u="none">
                <a:solidFill>
                  <a:srgbClr val="529fc6">
                    <a:alpha val="54000"/>
                  </a:srgbClr>
                </a:solidFill>
                <a:effectLst/>
                <a:uFillTx/>
                <a:latin typeface="나눔스퀘어 ExtraBold"/>
                <a:ea typeface="나눔스퀘어 ExtraBold"/>
              </a:rPr>
              <a:t>Tripclick </a:t>
            </a:r>
            <a:endParaRPr b="0" lang="en-US" sz="4500" strike="noStrike" u="none">
              <a:solidFill>
                <a:srgbClr val="000000"/>
              </a:solidFill>
              <a:effectLst/>
              <a:uFillTx/>
              <a:latin typeface="Arial"/>
            </a:endParaRPr>
          </a:p>
          <a:p>
            <a:pPr algn="ctr" defTabSz="914400">
              <a:lnSpc>
                <a:spcPct val="100000"/>
              </a:lnSpc>
            </a:pPr>
            <a:r>
              <a:rPr b="0" lang="ko-KR" sz="4500" spc="-150" strike="noStrike" u="none">
                <a:solidFill>
                  <a:srgbClr val="529fc6">
                    <a:alpha val="54000"/>
                  </a:srgbClr>
                </a:solidFill>
                <a:effectLst/>
                <a:uFillTx/>
                <a:latin typeface="나눔스퀘어 ExtraBold"/>
                <a:ea typeface="나눔스퀘어 ExtraBold"/>
              </a:rPr>
              <a:t>데이터 파이프라인 프로젝트</a:t>
            </a:r>
            <a:endParaRPr b="0" lang="en-US" sz="4500" strike="noStrike" u="none">
              <a:solidFill>
                <a:srgbClr val="000000"/>
              </a:solidFill>
              <a:effectLst/>
              <a:uFillTx/>
              <a:latin typeface="Arial"/>
            </a:endParaRPr>
          </a:p>
          <a:p>
            <a:pPr algn="ctr" defTabSz="914400">
              <a:lnSpc>
                <a:spcPct val="100000"/>
              </a:lnSpc>
            </a:pPr>
            <a:r>
              <a:rPr b="0" lang="en-US" sz="4500" spc="-150" strike="noStrike" u="none">
                <a:solidFill>
                  <a:srgbClr val="529fc6">
                    <a:alpha val="54000"/>
                  </a:srgbClr>
                </a:solidFill>
                <a:effectLst/>
                <a:uFillTx/>
                <a:latin typeface="나눔스퀘어 ExtraBold"/>
                <a:ea typeface="나눔스퀘어 ExtraBold"/>
              </a:rPr>
              <a:t>(title)</a:t>
            </a:r>
            <a:endParaRPr b="0" lang="en-US" sz="4500" strike="noStrike" u="none">
              <a:solidFill>
                <a:srgbClr val="000000"/>
              </a:solidFill>
              <a:effectLst/>
              <a:uFillTx/>
              <a:latin typeface="Arial"/>
            </a:endParaRPr>
          </a:p>
        </p:txBody>
      </p:sp>
      <p:sp>
        <p:nvSpPr>
          <p:cNvPr id="63" name="TextBox 1"/>
          <p:cNvSpPr/>
          <p:nvPr/>
        </p:nvSpPr>
        <p:spPr>
          <a:xfrm>
            <a:off x="9417960" y="5486400"/>
            <a:ext cx="1296360" cy="5468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ko-KR" sz="3000" spc="300" strike="noStrike" u="none">
                <a:solidFill>
                  <a:srgbClr val="000000"/>
                </a:solidFill>
                <a:effectLst/>
                <a:uFillTx/>
                <a:latin typeface="나눔스퀘어"/>
                <a:ea typeface="나눔스퀘어"/>
              </a:rPr>
              <a:t>유상준</a:t>
            </a:r>
            <a:endParaRPr b="0" lang="en-US" sz="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64" name="TextBox 7"/>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65" name="TextBox 8"/>
          <p:cNvSpPr/>
          <p:nvPr/>
        </p:nvSpPr>
        <p:spPr>
          <a:xfrm>
            <a:off x="840240" y="595440"/>
            <a:ext cx="4417560" cy="10047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6000" spc="-150" strike="noStrike" u="none">
                <a:solidFill>
                  <a:srgbClr val="000000"/>
                </a:solidFill>
                <a:effectLst/>
                <a:uFillTx/>
                <a:latin typeface="나눔스퀘어 ExtraBold"/>
                <a:ea typeface="나눔스퀘어 ExtraBold"/>
              </a:rPr>
              <a:t>프로젝트 개요</a:t>
            </a:r>
            <a:endParaRPr b="0" lang="en-US" sz="6000" strike="noStrike" u="none">
              <a:solidFill>
                <a:srgbClr val="000000"/>
              </a:solidFill>
              <a:effectLst/>
              <a:uFillTx/>
              <a:latin typeface="Arial"/>
            </a:endParaRPr>
          </a:p>
        </p:txBody>
      </p:sp>
      <p:sp>
        <p:nvSpPr>
          <p:cNvPr id="66" name="TextBox 11"/>
          <p:cNvSpPr/>
          <p:nvPr/>
        </p:nvSpPr>
        <p:spPr>
          <a:xfrm>
            <a:off x="1679400" y="2195640"/>
            <a:ext cx="3656160" cy="395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2000" spc="-150" strike="noStrike" u="none">
                <a:solidFill>
                  <a:srgbClr val="000000"/>
                </a:solidFill>
                <a:effectLst/>
                <a:uFillTx/>
                <a:latin typeface="나눔스퀘어 ExtraBold"/>
                <a:ea typeface="나눔스퀘어 ExtraBold"/>
              </a:rPr>
              <a:t>Tripclick </a:t>
            </a:r>
            <a:r>
              <a:rPr b="0" lang="ko-KR" sz="2000" spc="-150" strike="noStrike" u="none">
                <a:solidFill>
                  <a:srgbClr val="000000"/>
                </a:solidFill>
                <a:effectLst/>
                <a:uFillTx/>
                <a:latin typeface="나눔스퀘어 ExtraBold"/>
                <a:ea typeface="나눔스퀘어 ExtraBold"/>
              </a:rPr>
              <a:t>데이터셋에 대한 정보 설명</a:t>
            </a:r>
            <a:endParaRPr b="0" lang="en-US" sz="2000" strike="noStrike" u="none">
              <a:solidFill>
                <a:srgbClr val="000000"/>
              </a:solidFill>
              <a:effectLst/>
              <a:uFillTx/>
              <a:latin typeface="Arial"/>
            </a:endParaRPr>
          </a:p>
        </p:txBody>
      </p:sp>
      <p:sp>
        <p:nvSpPr>
          <p:cNvPr id="67" name="TextBox 12"/>
          <p:cNvSpPr/>
          <p:nvPr/>
        </p:nvSpPr>
        <p:spPr>
          <a:xfrm>
            <a:off x="1094760" y="3490920"/>
            <a:ext cx="2202120" cy="395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2000" spc="-150" strike="noStrike" u="none">
                <a:solidFill>
                  <a:srgbClr val="000000"/>
                </a:solidFill>
                <a:effectLst/>
                <a:uFillTx/>
                <a:latin typeface="나눔스퀘어 ExtraBold"/>
                <a:ea typeface="나눔스퀘어 ExtraBold"/>
              </a:rPr>
              <a:t>가상의 시나리오 구성</a:t>
            </a:r>
            <a:endParaRPr b="0" lang="en-US" sz="2000" strike="noStrike" u="none">
              <a:solidFill>
                <a:srgbClr val="000000"/>
              </a:solidFill>
              <a:effectLst/>
              <a:uFillTx/>
              <a:latin typeface="Arial"/>
            </a:endParaRPr>
          </a:p>
        </p:txBody>
      </p:sp>
      <p:sp>
        <p:nvSpPr>
          <p:cNvPr id="68" name="TextBox 2"/>
          <p:cNvSpPr/>
          <p:nvPr/>
        </p:nvSpPr>
        <p:spPr>
          <a:xfrm>
            <a:off x="4410720" y="3490920"/>
            <a:ext cx="5119560" cy="395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2000" spc="-150" strike="noStrike" u="none">
                <a:solidFill>
                  <a:srgbClr val="000000"/>
                </a:solidFill>
                <a:effectLst/>
                <a:uFillTx/>
                <a:latin typeface="나눔스퀘어 ExtraBold"/>
                <a:ea typeface="나눔스퀘어 ExtraBold"/>
              </a:rPr>
              <a:t>=&gt; </a:t>
            </a:r>
            <a:r>
              <a:rPr b="0" lang="ko-KR" sz="2000" spc="-150" strike="noStrike" u="none">
                <a:solidFill>
                  <a:srgbClr val="000000"/>
                </a:solidFill>
                <a:effectLst/>
                <a:uFillTx/>
                <a:latin typeface="나눔스퀘어 ExtraBold"/>
                <a:ea typeface="나눔스퀘어 ExtraBold"/>
              </a:rPr>
              <a:t>여기서 키워드를 뽑고 이걸 주요 목표로 구성하기</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69" name="TextBox 14"/>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70" name="TextBox 15"/>
          <p:cNvSpPr/>
          <p:nvPr/>
        </p:nvSpPr>
        <p:spPr>
          <a:xfrm>
            <a:off x="509040" y="138240"/>
            <a:ext cx="8634960" cy="10047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6000" spc="-150" strike="noStrike" u="none">
                <a:solidFill>
                  <a:srgbClr val="000000"/>
                </a:solidFill>
                <a:effectLst/>
                <a:uFillTx/>
                <a:latin typeface="나눔스퀘어 ExtraBold"/>
                <a:ea typeface="나눔스퀘어 ExtraBold"/>
              </a:rPr>
              <a:t>시스템 아키텍처 다이어그램</a:t>
            </a:r>
            <a:endParaRPr b="0" lang="en-US" sz="6000" strike="noStrike" u="none">
              <a:solidFill>
                <a:srgbClr val="000000"/>
              </a:solidFill>
              <a:effectLst/>
              <a:uFillTx/>
              <a:latin typeface="Arial"/>
            </a:endParaRPr>
          </a:p>
        </p:txBody>
      </p:sp>
      <p:pic>
        <p:nvPicPr>
          <p:cNvPr id="71" name="" descr=""/>
          <p:cNvPicPr/>
          <p:nvPr/>
        </p:nvPicPr>
        <p:blipFill>
          <a:blip r:embed="rId1"/>
          <a:stretch/>
        </p:blipFill>
        <p:spPr>
          <a:xfrm>
            <a:off x="1467360" y="1208520"/>
            <a:ext cx="5619240" cy="5420880"/>
          </a:xfrm>
          <a:prstGeom prst="rect">
            <a:avLst/>
          </a:prstGeom>
          <a:noFill/>
          <a:ln w="0">
            <a:noFill/>
          </a:ln>
        </p:spPr>
      </p:pic>
      <p:sp>
        <p:nvSpPr>
          <p:cNvPr id="72" name="TextBox 3"/>
          <p:cNvSpPr/>
          <p:nvPr/>
        </p:nvSpPr>
        <p:spPr>
          <a:xfrm>
            <a:off x="7673400" y="3200400"/>
            <a:ext cx="4442400" cy="13093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2000" spc="-150" strike="noStrike" u="none">
                <a:solidFill>
                  <a:srgbClr val="000000"/>
                </a:solidFill>
                <a:effectLst/>
                <a:uFillTx/>
                <a:latin typeface="나눔스퀘어 ExtraBold"/>
                <a:ea typeface="나눔스퀘어 ExtraBold"/>
              </a:rPr>
              <a:t>Daily Batch</a:t>
            </a:r>
            <a:r>
              <a:rPr b="0" lang="ko-KR" sz="2000" spc="-150" strike="noStrike" u="none">
                <a:solidFill>
                  <a:srgbClr val="000000"/>
                </a:solidFill>
                <a:effectLst/>
                <a:uFillTx/>
                <a:latin typeface="나눔스퀘어 ExtraBold"/>
                <a:ea typeface="나눔스퀘어 ExtraBold"/>
              </a:rPr>
              <a:t>와 </a:t>
            </a:r>
            <a:r>
              <a:rPr b="0" lang="en-US" sz="2000" spc="-150" strike="noStrike" u="none">
                <a:solidFill>
                  <a:srgbClr val="000000"/>
                </a:solidFill>
                <a:effectLst/>
                <a:uFillTx/>
                <a:latin typeface="나눔스퀘어 ExtraBold"/>
                <a:ea typeface="나눔스퀘어 ExtraBold"/>
              </a:rPr>
              <a:t>Streaming </a:t>
            </a:r>
            <a:r>
              <a:rPr b="0" lang="ko-KR" sz="2000" spc="-150" strike="noStrike" u="none">
                <a:solidFill>
                  <a:srgbClr val="000000"/>
                </a:solidFill>
                <a:effectLst/>
                <a:uFillTx/>
                <a:latin typeface="나눔스퀘어 ExtraBold"/>
                <a:ea typeface="나눔스퀘어 ExtraBold"/>
              </a:rPr>
              <a:t>두 가지가 있는 </a:t>
            </a:r>
            <a:endParaRPr b="0" lang="en-US" sz="2000" strike="noStrike" u="none">
              <a:solidFill>
                <a:srgbClr val="000000"/>
              </a:solidFill>
              <a:effectLst/>
              <a:uFillTx/>
              <a:latin typeface="Arial"/>
            </a:endParaRPr>
          </a:p>
          <a:p>
            <a:pPr algn="ctr" defTabSz="914400">
              <a:lnSpc>
                <a:spcPct val="100000"/>
              </a:lnSpc>
            </a:pPr>
            <a:r>
              <a:rPr b="0" lang="en-US" sz="2000" spc="-150" strike="noStrike" u="none">
                <a:solidFill>
                  <a:srgbClr val="000000"/>
                </a:solidFill>
                <a:effectLst/>
                <a:uFillTx/>
                <a:latin typeface="나눔스퀘어 ExtraBold"/>
                <a:ea typeface="나눔스퀘어 ExtraBold"/>
              </a:rPr>
              <a:t>lambda </a:t>
            </a:r>
            <a:r>
              <a:rPr b="0" lang="ko-KR" sz="2000" spc="-150" strike="noStrike" u="none">
                <a:solidFill>
                  <a:srgbClr val="000000"/>
                </a:solidFill>
                <a:effectLst/>
                <a:uFillTx/>
                <a:latin typeface="나눔스퀘어 ExtraBold"/>
                <a:ea typeface="나눔스퀘어 ExtraBold"/>
              </a:rPr>
              <a:t>아키텍처임을 강조</a:t>
            </a:r>
            <a:endParaRPr b="0" lang="en-US" sz="2000" strike="noStrike" u="none">
              <a:solidFill>
                <a:srgbClr val="000000"/>
              </a:solidFill>
              <a:effectLst/>
              <a:uFillTx/>
              <a:latin typeface="Arial"/>
            </a:endParaRPr>
          </a:p>
          <a:p>
            <a:pPr algn="ctr" defTabSz="914400">
              <a:lnSpc>
                <a:spcPct val="100000"/>
              </a:lnSpc>
            </a:pPr>
            <a:endParaRPr b="0" lang="en-US" sz="2000" strike="noStrike" u="none">
              <a:solidFill>
                <a:srgbClr val="000000"/>
              </a:solidFill>
              <a:effectLst/>
              <a:uFillTx/>
              <a:latin typeface="Arial"/>
            </a:endParaRPr>
          </a:p>
          <a:p>
            <a:pPr algn="ctr" defTabSz="914400">
              <a:lnSpc>
                <a:spcPct val="100000"/>
              </a:lnSpc>
            </a:pPr>
            <a:r>
              <a:rPr b="0" lang="ko-KR" sz="2000" spc="-150" strike="noStrike" u="none">
                <a:solidFill>
                  <a:srgbClr val="000000"/>
                </a:solidFill>
                <a:effectLst/>
                <a:uFillTx/>
                <a:latin typeface="나눔스퀘어 ExtraBold"/>
                <a:ea typeface="나눔스퀘어 ExtraBold"/>
              </a:rPr>
              <a:t>필요 시 </a:t>
            </a:r>
            <a:r>
              <a:rPr b="0" lang="en-US" sz="2000" spc="-150" strike="noStrike" u="none">
                <a:solidFill>
                  <a:srgbClr val="000000"/>
                </a:solidFill>
                <a:effectLst/>
                <a:uFillTx/>
                <a:latin typeface="나눔스퀘어 ExtraBold"/>
                <a:ea typeface="나눔스퀘어 ExtraBold"/>
              </a:rPr>
              <a:t>excalidraw</a:t>
            </a:r>
            <a:r>
              <a:rPr b="0" lang="ko-KR" sz="2000" spc="-150" strike="noStrike" u="none">
                <a:solidFill>
                  <a:srgbClr val="000000"/>
                </a:solidFill>
                <a:effectLst/>
                <a:uFillTx/>
                <a:latin typeface="나눔스퀘어 ExtraBold"/>
                <a:ea typeface="나눔스퀘어 ExtraBold"/>
              </a:rPr>
              <a:t>로 다시구성</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73" name="TextBox 13"/>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74" name="TextBox 16"/>
          <p:cNvSpPr/>
          <p:nvPr/>
        </p:nvSpPr>
        <p:spPr>
          <a:xfrm>
            <a:off x="2531520" y="138240"/>
            <a:ext cx="4588920" cy="10047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6000" spc="-150" strike="noStrike" u="none">
                <a:solidFill>
                  <a:srgbClr val="000000"/>
                </a:solidFill>
                <a:effectLst/>
                <a:uFillTx/>
                <a:latin typeface="나눔스퀘어 ExtraBold"/>
                <a:ea typeface="나눔스퀘어 ExtraBold"/>
              </a:rPr>
              <a:t>인프라 구성도 </a:t>
            </a:r>
            <a:endParaRPr b="0" lang="en-US" sz="6000" strike="noStrike" u="none">
              <a:solidFill>
                <a:srgbClr val="000000"/>
              </a:solidFill>
              <a:effectLst/>
              <a:uFillTx/>
              <a:latin typeface="Arial"/>
            </a:endParaRPr>
          </a:p>
        </p:txBody>
      </p:sp>
      <p:sp>
        <p:nvSpPr>
          <p:cNvPr id="75" name="TextBox 23"/>
          <p:cNvSpPr/>
          <p:nvPr/>
        </p:nvSpPr>
        <p:spPr>
          <a:xfrm>
            <a:off x="8128800" y="3200400"/>
            <a:ext cx="3531600" cy="6994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2000" spc="-150" strike="noStrike" u="none">
                <a:solidFill>
                  <a:srgbClr val="000000"/>
                </a:solidFill>
                <a:effectLst/>
                <a:uFillTx/>
                <a:latin typeface="나눔스퀘어 ExtraBold"/>
                <a:ea typeface="나눔스퀘어 ExtraBold"/>
              </a:rPr>
              <a:t>필요 시 </a:t>
            </a:r>
            <a:r>
              <a:rPr b="0" lang="en-US" sz="2000" spc="-150" strike="noStrike" u="none">
                <a:solidFill>
                  <a:srgbClr val="000000"/>
                </a:solidFill>
                <a:effectLst/>
                <a:uFillTx/>
                <a:latin typeface="나눔스퀘어 ExtraBold"/>
                <a:ea typeface="나눔스퀘어 ExtraBold"/>
              </a:rPr>
              <a:t>excalidraw</a:t>
            </a:r>
            <a:r>
              <a:rPr b="0" lang="ko-KR" sz="2000" spc="-150" strike="noStrike" u="none">
                <a:solidFill>
                  <a:srgbClr val="000000"/>
                </a:solidFill>
                <a:effectLst/>
                <a:uFillTx/>
                <a:latin typeface="나눔스퀘어 ExtraBold"/>
                <a:ea typeface="나눔스퀘어 ExtraBold"/>
              </a:rPr>
              <a:t>로 구성하거나</a:t>
            </a:r>
            <a:endParaRPr b="0" lang="en-US" sz="2000" strike="noStrike" u="none">
              <a:solidFill>
                <a:srgbClr val="000000"/>
              </a:solidFill>
              <a:effectLst/>
              <a:uFillTx/>
              <a:latin typeface="Arial"/>
            </a:endParaRPr>
          </a:p>
          <a:p>
            <a:pPr algn="ctr" defTabSz="914400">
              <a:lnSpc>
                <a:spcPct val="100000"/>
              </a:lnSpc>
            </a:pPr>
            <a:r>
              <a:rPr b="0" lang="ko-KR" sz="2000" spc="-150" strike="noStrike" u="none">
                <a:solidFill>
                  <a:srgbClr val="000000"/>
                </a:solidFill>
                <a:effectLst/>
                <a:uFillTx/>
                <a:latin typeface="나눔스퀘어 ExtraBold"/>
                <a:ea typeface="나눔스퀘어 ExtraBold"/>
              </a:rPr>
              <a:t>위치조정</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제외할수도</a:t>
            </a:r>
            <a:endParaRPr b="0" lang="en-US" sz="2000" strike="noStrike" u="none">
              <a:solidFill>
                <a:srgbClr val="000000"/>
              </a:solidFill>
              <a:effectLst/>
              <a:uFillTx/>
              <a:latin typeface="Arial"/>
            </a:endParaRPr>
          </a:p>
        </p:txBody>
      </p:sp>
      <p:pic>
        <p:nvPicPr>
          <p:cNvPr id="76" name="" descr=""/>
          <p:cNvPicPr/>
          <p:nvPr/>
        </p:nvPicPr>
        <p:blipFill>
          <a:blip r:embed="rId1"/>
          <a:stretch/>
        </p:blipFill>
        <p:spPr>
          <a:xfrm>
            <a:off x="2581200" y="1148040"/>
            <a:ext cx="4962600" cy="63957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77" name="TextBox 25"/>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78" name="TextBox 29"/>
          <p:cNvSpPr/>
          <p:nvPr/>
        </p:nvSpPr>
        <p:spPr>
          <a:xfrm>
            <a:off x="1540800" y="138240"/>
            <a:ext cx="657180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메인 이슈</a:t>
            </a:r>
            <a:r>
              <a:rPr b="0" lang="en-US" sz="4000" spc="-150" strike="noStrike" u="none">
                <a:solidFill>
                  <a:srgbClr val="000000"/>
                </a:solidFill>
                <a:effectLst/>
                <a:uFillTx/>
                <a:latin typeface="나눔스퀘어 ExtraBold"/>
                <a:ea typeface="나눔스퀘어 ExtraBold"/>
              </a:rPr>
              <a:t>(</a:t>
            </a:r>
            <a:r>
              <a:rPr b="0" lang="ko-KR" sz="4000" spc="-150" strike="noStrike" u="none">
                <a:solidFill>
                  <a:srgbClr val="000000"/>
                </a:solidFill>
                <a:effectLst/>
                <a:uFillTx/>
                <a:latin typeface="나눔스퀘어 ExtraBold"/>
                <a:ea typeface="나눔스퀘어 ExtraBold"/>
              </a:rPr>
              <a:t>기술적 </a:t>
            </a:r>
            <a:r>
              <a:rPr b="0" lang="en-US" sz="4000" spc="-150" strike="noStrike" u="none">
                <a:solidFill>
                  <a:srgbClr val="000000"/>
                </a:solidFill>
                <a:effectLst/>
                <a:uFillTx/>
                <a:latin typeface="나눔스퀘어 ExtraBold"/>
                <a:ea typeface="나눔스퀘어 ExtraBold"/>
              </a:rPr>
              <a:t>challenge) </a:t>
            </a:r>
            <a:endParaRPr b="0" lang="en-US" sz="4000" strike="noStrike" u="none">
              <a:solidFill>
                <a:srgbClr val="000000"/>
              </a:solidFill>
              <a:effectLst/>
              <a:uFillTx/>
              <a:latin typeface="Arial"/>
            </a:endParaRPr>
          </a:p>
        </p:txBody>
      </p:sp>
      <p:sp>
        <p:nvSpPr>
          <p:cNvPr id="79" name="TextBox 31"/>
          <p:cNvSpPr/>
          <p:nvPr/>
        </p:nvSpPr>
        <p:spPr>
          <a:xfrm>
            <a:off x="7016040" y="5029200"/>
            <a:ext cx="3927600" cy="395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2000" spc="-150" strike="noStrike" u="none">
                <a:solidFill>
                  <a:srgbClr val="000000"/>
                </a:solidFill>
                <a:effectLst/>
                <a:uFillTx/>
                <a:latin typeface="나눔스퀘어 ExtraBold"/>
                <a:ea typeface="나눔스퀘어 ExtraBold"/>
              </a:rPr>
              <a:t>표 형태 구성</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이슈 해결책 결과 순 구성</a:t>
            </a:r>
            <a:endParaRPr b="0" lang="en-US" sz="2000" strike="noStrike" u="none">
              <a:solidFill>
                <a:srgbClr val="000000"/>
              </a:solidFill>
              <a:effectLst/>
              <a:uFillTx/>
              <a:latin typeface="Arial"/>
            </a:endParaRPr>
          </a:p>
        </p:txBody>
      </p:sp>
      <p:sp>
        <p:nvSpPr>
          <p:cNvPr id="80" name="TextBox 32"/>
          <p:cNvSpPr/>
          <p:nvPr/>
        </p:nvSpPr>
        <p:spPr>
          <a:xfrm>
            <a:off x="1321560" y="1371600"/>
            <a:ext cx="233604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1. </a:t>
            </a:r>
            <a:r>
              <a:rPr b="0" lang="ko-KR" sz="2000" spc="-150" strike="noStrike" u="none">
                <a:solidFill>
                  <a:srgbClr val="000000"/>
                </a:solidFill>
                <a:effectLst/>
                <a:uFillTx/>
                <a:latin typeface="나눔스퀘어 ExtraBold"/>
                <a:ea typeface="나눔스퀘어 ExtraBold"/>
              </a:rPr>
              <a:t>데이터 중복 </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2. </a:t>
            </a:r>
            <a:r>
              <a:rPr b="0" lang="ko-KR" sz="2000" spc="-150" strike="noStrike" u="none">
                <a:solidFill>
                  <a:srgbClr val="000000"/>
                </a:solidFill>
                <a:effectLst/>
                <a:uFillTx/>
                <a:latin typeface="나눔스퀘어 ExtraBold"/>
                <a:ea typeface="나눔스퀘어 ExtraBold"/>
              </a:rPr>
              <a:t>에러 처리</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재실행</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3. streaming </a:t>
            </a:r>
            <a:r>
              <a:rPr b="0" lang="ko-KR" sz="2000" spc="-150" strike="noStrike" u="none">
                <a:solidFill>
                  <a:srgbClr val="000000"/>
                </a:solidFill>
                <a:effectLst/>
                <a:uFillTx/>
                <a:latin typeface="나눔스퀘어 ExtraBold"/>
                <a:ea typeface="나눔스퀘어 ExtraBold"/>
              </a:rPr>
              <a:t>최적화</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81" name="TextBox 35"/>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82" name="TextBox 36"/>
          <p:cNvSpPr/>
          <p:nvPr/>
        </p:nvSpPr>
        <p:spPr>
          <a:xfrm>
            <a:off x="3344400" y="138240"/>
            <a:ext cx="29642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데이터셋 설명</a:t>
            </a:r>
            <a:endParaRPr b="0" lang="en-US" sz="4000" strike="noStrike" u="none">
              <a:solidFill>
                <a:srgbClr val="000000"/>
              </a:solidFill>
              <a:effectLst/>
              <a:uFillTx/>
              <a:latin typeface="Arial"/>
            </a:endParaRPr>
          </a:p>
        </p:txBody>
      </p:sp>
      <p:sp>
        <p:nvSpPr>
          <p:cNvPr id="83" name="TextBox 44"/>
          <p:cNvSpPr/>
          <p:nvPr/>
        </p:nvSpPr>
        <p:spPr>
          <a:xfrm>
            <a:off x="5783400" y="2805120"/>
            <a:ext cx="5080320" cy="395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2000" spc="-150" strike="noStrike" u="none">
                <a:solidFill>
                  <a:srgbClr val="000000"/>
                </a:solidFill>
                <a:effectLst/>
                <a:uFillTx/>
                <a:latin typeface="나눔스퀘어 ExtraBold"/>
                <a:ea typeface="나눔스퀘어 ExtraBold"/>
              </a:rPr>
              <a:t>출처</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용량</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칼럼 및 데이터 구성</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정보</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타입 등</a:t>
            </a:r>
            <a:endParaRPr b="0" lang="en-US" sz="2000" strike="noStrike" u="none">
              <a:solidFill>
                <a:srgbClr val="000000"/>
              </a:solidFill>
              <a:effectLst/>
              <a:uFillTx/>
              <a:latin typeface="Arial"/>
            </a:endParaRPr>
          </a:p>
        </p:txBody>
      </p:sp>
      <p:sp>
        <p:nvSpPr>
          <p:cNvPr id="84" name="TextBox 45"/>
          <p:cNvSpPr/>
          <p:nvPr/>
        </p:nvSpPr>
        <p:spPr>
          <a:xfrm>
            <a:off x="-12160440" y="1371600"/>
            <a:ext cx="36544320" cy="699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spcBef>
                <a:spcPts val="1191"/>
              </a:spcBef>
              <a:spcAft>
                <a:spcPts val="992"/>
              </a:spcAft>
            </a:pPr>
            <a:r>
              <a:rPr b="0" lang="en-US" sz="2000" spc="-150" strike="noStrike" u="none">
                <a:solidFill>
                  <a:srgbClr val="000000"/>
                </a:solidFill>
                <a:effectLst/>
                <a:uFillTx/>
                <a:latin typeface="나눔스퀘어 ExtraBold"/>
                <a:ea typeface="나눔스퀘어 ExtraBold"/>
              </a:rPr>
              <a:t>{"DateCreated": "/Date(1357004977650)/", "SessionId": "smyrvv450lybhv55hrh0pp3m", "DocumentId": 1332132, "Url": "http://dx.doi.org/10.1002/14651858.CD008530.pub2", "Title": "Antibiotic therapy for preventing infections in patients with acute stroke", "DOI": "", "ClinicalAreas": ",Cardiology,Emergency Medicine,Infectious Disease", "Keywords": "Stroke", "Documents": [], "event_ts": "2026-01-01T15:00:01.902456+00:00", "event_date": "2026-01-01"} </a:t>
            </a:r>
            <a:endParaRPr b="0" lang="en-US" sz="2000" strike="noStrike" u="none">
              <a:solidFill>
                <a:srgbClr val="000000"/>
              </a:solidFill>
              <a:effectLst/>
              <a:uFillTx/>
              <a:latin typeface="Arial"/>
            </a:endParaRPr>
          </a:p>
        </p:txBody>
      </p:sp>
      <p:sp>
        <p:nvSpPr>
          <p:cNvPr id="85" name="TextBox 48"/>
          <p:cNvSpPr/>
          <p:nvPr/>
        </p:nvSpPr>
        <p:spPr>
          <a:xfrm>
            <a:off x="878400" y="3872520"/>
            <a:ext cx="8722800" cy="6994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2000" spc="-150" strike="noStrike" u="none">
                <a:solidFill>
                  <a:srgbClr val="000000"/>
                </a:solidFill>
                <a:effectLst/>
                <a:uFillTx/>
                <a:latin typeface="나눔스퀘어 ExtraBold"/>
                <a:ea typeface="나눔스퀘어 ExtraBold"/>
              </a:rPr>
              <a:t>2013-01-01 ~ 2021-10-30 </a:t>
            </a:r>
            <a:r>
              <a:rPr b="0" lang="ko-KR" sz="2000" spc="-150" strike="noStrike" u="none">
                <a:solidFill>
                  <a:srgbClr val="000000"/>
                </a:solidFill>
                <a:effectLst/>
                <a:uFillTx/>
                <a:latin typeface="나눔스퀘어 ExtraBold"/>
                <a:ea typeface="나눔스퀘어 ExtraBold"/>
              </a:rPr>
              <a:t>까지의 데이터를 </a:t>
            </a:r>
            <a:endParaRPr b="0" lang="en-US" sz="2000" strike="noStrike" u="none">
              <a:solidFill>
                <a:srgbClr val="000000"/>
              </a:solidFill>
              <a:effectLst/>
              <a:uFillTx/>
              <a:latin typeface="Arial"/>
            </a:endParaRPr>
          </a:p>
          <a:p>
            <a:pPr algn="ctr" defTabSz="914400">
              <a:lnSpc>
                <a:spcPct val="100000"/>
              </a:lnSpc>
            </a:pPr>
            <a:r>
              <a:rPr b="0" lang="ko-KR" sz="2000" spc="-150" strike="noStrike" u="none">
                <a:solidFill>
                  <a:srgbClr val="000000"/>
                </a:solidFill>
                <a:effectLst/>
                <a:uFillTx/>
                <a:latin typeface="나눔스퀘어 ExtraBold"/>
                <a:ea typeface="나눔스퀘어 ExtraBold"/>
              </a:rPr>
              <a:t>변형하여 </a:t>
            </a:r>
            <a:r>
              <a:rPr b="0" lang="en-US" sz="2000" spc="-150" strike="noStrike" u="none">
                <a:solidFill>
                  <a:srgbClr val="000000"/>
                </a:solidFill>
                <a:effectLst/>
                <a:uFillTx/>
                <a:latin typeface="나눔스퀘어 ExtraBold"/>
                <a:ea typeface="나눔스퀘어 ExtraBold"/>
              </a:rPr>
              <a:t>2026</a:t>
            </a:r>
            <a:r>
              <a:rPr b="0" lang="ko-KR" sz="2000" spc="-150" strike="noStrike" u="none">
                <a:solidFill>
                  <a:srgbClr val="000000"/>
                </a:solidFill>
                <a:effectLst/>
                <a:uFillTx/>
                <a:latin typeface="나눔스퀘어 ExtraBold"/>
                <a:ea typeface="나눔스퀘어 ExtraBold"/>
              </a:rPr>
              <a:t>년 </a:t>
            </a:r>
            <a:r>
              <a:rPr b="0" lang="en-US" sz="2000" spc="-150" strike="noStrike" u="none">
                <a:solidFill>
                  <a:srgbClr val="000000"/>
                </a:solidFill>
                <a:effectLst/>
                <a:uFillTx/>
                <a:latin typeface="나눔스퀘어 ExtraBold"/>
                <a:ea typeface="나눔스퀘어 ExtraBold"/>
              </a:rPr>
              <a:t>1</a:t>
            </a:r>
            <a:r>
              <a:rPr b="0" lang="ko-KR" sz="2000" spc="-150" strike="noStrike" u="none">
                <a:solidFill>
                  <a:srgbClr val="000000"/>
                </a:solidFill>
                <a:effectLst/>
                <a:uFillTx/>
                <a:latin typeface="나눔스퀘어 ExtraBold"/>
                <a:ea typeface="나눔스퀘어 ExtraBold"/>
              </a:rPr>
              <a:t>월 </a:t>
            </a:r>
            <a:r>
              <a:rPr b="0" lang="en-US" sz="2000" spc="-150" strike="noStrike" u="none">
                <a:solidFill>
                  <a:srgbClr val="000000"/>
                </a:solidFill>
                <a:effectLst/>
                <a:uFillTx/>
                <a:latin typeface="나눔스퀘어 ExtraBold"/>
                <a:ea typeface="나눔스퀘어 ExtraBold"/>
              </a:rPr>
              <a:t>1</a:t>
            </a:r>
            <a:r>
              <a:rPr b="0" lang="ko-KR" sz="2000" spc="-150" strike="noStrike" u="none">
                <a:solidFill>
                  <a:srgbClr val="000000"/>
                </a:solidFill>
                <a:effectLst/>
                <a:uFillTx/>
                <a:latin typeface="나눔스퀘어 ExtraBold"/>
                <a:ea typeface="나눔스퀘어 ExtraBold"/>
              </a:rPr>
              <a:t>일 </a:t>
            </a:r>
            <a:r>
              <a:rPr b="0" lang="en-US" sz="2000" spc="-150" strike="noStrike" u="none">
                <a:solidFill>
                  <a:srgbClr val="000000"/>
                </a:solidFill>
                <a:effectLst/>
                <a:uFillTx/>
                <a:latin typeface="나눔스퀘어 ExtraBold"/>
                <a:ea typeface="나눔스퀘어 ExtraBold"/>
              </a:rPr>
              <a:t>~ 1</a:t>
            </a:r>
            <a:r>
              <a:rPr b="0" lang="ko-KR" sz="2000" spc="-150" strike="noStrike" u="none">
                <a:solidFill>
                  <a:srgbClr val="000000"/>
                </a:solidFill>
                <a:effectLst/>
                <a:uFillTx/>
                <a:latin typeface="나눔스퀘어 ExtraBold"/>
                <a:ea typeface="나눔스퀘어 ExtraBold"/>
              </a:rPr>
              <a:t>월 </a:t>
            </a:r>
            <a:r>
              <a:rPr b="0" lang="en-US" sz="2000" spc="-150" strike="noStrike" u="none">
                <a:solidFill>
                  <a:srgbClr val="000000"/>
                </a:solidFill>
                <a:effectLst/>
                <a:uFillTx/>
                <a:latin typeface="나눔스퀘어 ExtraBold"/>
                <a:ea typeface="나눔스퀘어 ExtraBold"/>
              </a:rPr>
              <a:t>31</a:t>
            </a:r>
            <a:r>
              <a:rPr b="0" lang="ko-KR" sz="2000" spc="-150" strike="noStrike" u="none">
                <a:solidFill>
                  <a:srgbClr val="000000"/>
                </a:solidFill>
                <a:effectLst/>
                <a:uFillTx/>
                <a:latin typeface="나눔스퀘어 ExtraBold"/>
                <a:ea typeface="나눔스퀘어 ExtraBold"/>
              </a:rPr>
              <a:t>일까지 </a:t>
            </a:r>
            <a:r>
              <a:rPr b="0" lang="en-US" sz="2000" spc="-150" strike="noStrike" u="none">
                <a:solidFill>
                  <a:srgbClr val="000000"/>
                </a:solidFill>
                <a:effectLst/>
                <a:uFillTx/>
                <a:latin typeface="나눔스퀘어 ExtraBold"/>
                <a:ea typeface="나눔스퀘어 ExtraBold"/>
              </a:rPr>
              <a:t>15</a:t>
            </a:r>
            <a:r>
              <a:rPr b="0" lang="ko-KR" sz="2000" spc="-150" strike="noStrike" u="none">
                <a:solidFill>
                  <a:srgbClr val="000000"/>
                </a:solidFill>
                <a:effectLst/>
                <a:uFillTx/>
                <a:latin typeface="나눔스퀘어 ExtraBold"/>
                <a:ea typeface="나눔스퀘어 ExtraBold"/>
              </a:rPr>
              <a:t>시</a:t>
            </a:r>
            <a:r>
              <a:rPr b="0" lang="en-US" sz="2000" spc="-150" strike="noStrike" u="none">
                <a:solidFill>
                  <a:srgbClr val="000000"/>
                </a:solidFill>
                <a:effectLst/>
                <a:uFillTx/>
                <a:latin typeface="나눔스퀘어 ExtraBold"/>
                <a:ea typeface="나눔스퀘어 ExtraBold"/>
              </a:rPr>
              <a:t>~16</a:t>
            </a:r>
            <a:r>
              <a:rPr b="0" lang="ko-KR" sz="2000" spc="-150" strike="noStrike" u="none">
                <a:solidFill>
                  <a:srgbClr val="000000"/>
                </a:solidFill>
                <a:effectLst/>
                <a:uFillTx/>
                <a:latin typeface="나눔스퀘어 ExtraBold"/>
                <a:ea typeface="나눔스퀘어 ExtraBold"/>
              </a:rPr>
              <a:t>시 데이터로 생각하고 진행</a:t>
            </a:r>
            <a:endParaRPr b="0" lang="en-US" sz="2000" strike="noStrike" u="none">
              <a:solidFill>
                <a:srgbClr val="000000"/>
              </a:solidFill>
              <a:effectLst/>
              <a:uFillTx/>
              <a:latin typeface="Arial"/>
            </a:endParaRPr>
          </a:p>
        </p:txBody>
      </p:sp>
      <p:sp>
        <p:nvSpPr>
          <p:cNvPr id="86" name="TextBox 49"/>
          <p:cNvSpPr/>
          <p:nvPr/>
        </p:nvSpPr>
        <p:spPr>
          <a:xfrm>
            <a:off x="-11611080" y="4800600"/>
            <a:ext cx="36516960" cy="2445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spcBef>
                <a:spcPts val="1191"/>
              </a:spcBef>
              <a:spcAft>
                <a:spcPts val="992"/>
              </a:spcAft>
            </a:pPr>
            <a:r>
              <a:rPr b="0" lang="en-US" sz="2000" spc="-150" strike="noStrike" u="none">
                <a:solidFill>
                  <a:srgbClr val="000000"/>
                </a:solidFill>
                <a:effectLst/>
                <a:uFillTx/>
                <a:latin typeface="나눔스퀘어 ExtraBold"/>
                <a:ea typeface="나눔스퀘어 ExtraBold"/>
                <a:hlinkClick r:id="rId1"/>
              </a:rPr>
              <a:t>TripClick</a:t>
            </a:r>
            <a:endParaRPr b="1" lang="en-US" sz="2000" strike="noStrike" u="none">
              <a:solidFill>
                <a:srgbClr val="000000"/>
              </a:solidFill>
              <a:effectLst/>
              <a:uFillTx/>
              <a:latin typeface="Arial"/>
            </a:endParaRPr>
          </a:p>
          <a:p>
            <a:pPr defTabSz="914400">
              <a:lnSpc>
                <a:spcPct val="100000"/>
              </a:lnSpc>
              <a:spcBef>
                <a:spcPts val="1191"/>
              </a:spcBef>
              <a:spcAft>
                <a:spcPts val="992"/>
              </a:spcAft>
            </a:pPr>
            <a:r>
              <a:rPr b="0" lang="en-US" sz="2000" spc="-150" strike="noStrike" u="none">
                <a:solidFill>
                  <a:srgbClr val="000000"/>
                </a:solidFill>
                <a:effectLst/>
                <a:uFillTx/>
                <a:latin typeface="나눔스퀘어 ExtraBold"/>
                <a:ea typeface="나눔스퀘어 ExtraBold"/>
              </a:rPr>
              <a:t>TripClick is a large-scale dataset of click logs in the health domain, obtained from user interactions of the </a:t>
            </a:r>
            <a:r>
              <a:rPr b="0" lang="en-US" sz="2000" spc="-150" strike="noStrike" u="none">
                <a:solidFill>
                  <a:srgbClr val="000000"/>
                </a:solidFill>
                <a:effectLst/>
                <a:uFillTx/>
                <a:latin typeface="나눔스퀘어 ExtraBold"/>
                <a:ea typeface="나눔스퀘어 ExtraBold"/>
                <a:hlinkClick r:id="rId2"/>
              </a:rPr>
              <a:t>Trip Database</a:t>
            </a:r>
            <a:r>
              <a:rPr b="0" lang="en-US" sz="2000" spc="-150" strike="noStrike" u="none">
                <a:solidFill>
                  <a:srgbClr val="000000"/>
                </a:solidFill>
                <a:effectLst/>
                <a:uFillTx/>
                <a:latin typeface="나눔스퀘어 ExtraBold"/>
                <a:ea typeface="나눔스퀘어 ExtraBold"/>
              </a:rPr>
              <a:t> health web search engine. The clicklog dataset comprises approximately 5.2 million user interactions, collected between 2013 and 2020. This dataset is accompanied with an IR evaluation benchmark and the required files to train deep learning IR models.</a:t>
            </a:r>
            <a:endParaRPr b="0" lang="en-US" sz="2000" strike="noStrike" u="none">
              <a:solidFill>
                <a:srgbClr val="000000"/>
              </a:solidFill>
              <a:effectLst/>
              <a:uFillTx/>
              <a:latin typeface="Arial"/>
            </a:endParaRPr>
          </a:p>
          <a:p>
            <a:pPr defTabSz="914400">
              <a:lnSpc>
                <a:spcPct val="100000"/>
              </a:lnSpc>
              <a:spcBef>
                <a:spcPts val="1191"/>
              </a:spcBef>
              <a:spcAft>
                <a:spcPts val="992"/>
              </a:spcAft>
            </a:pPr>
            <a:r>
              <a:rPr b="0" lang="en-US" sz="2000" spc="-150" strike="noStrike" u="none">
                <a:solidFill>
                  <a:srgbClr val="000000"/>
                </a:solidFill>
                <a:effectLst/>
                <a:uFillTx/>
                <a:latin typeface="나눔스퀘어 ExtraBold"/>
                <a:ea typeface="나눔스퀘어 ExtraBold"/>
              </a:rPr>
              <a:t>Paper: </a:t>
            </a:r>
            <a:r>
              <a:rPr b="0" lang="en-US" sz="2000" spc="-150" strike="noStrike" u="none">
                <a:solidFill>
                  <a:srgbClr val="000000"/>
                </a:solidFill>
                <a:effectLst/>
                <a:uFillTx/>
                <a:latin typeface="나눔스퀘어 ExtraBold"/>
                <a:ea typeface="나눔스퀘어 ExtraBold"/>
                <a:hlinkClick r:id="rId3"/>
              </a:rPr>
              <a:t>TripClick: The Log Files of a Large Health Web Search Engine</a:t>
            </a:r>
            <a:endParaRPr b="0" lang="en-US" sz="2000" strike="noStrike" u="none">
              <a:solidFill>
                <a:srgbClr val="000000"/>
              </a:solidFill>
              <a:effectLst/>
              <a:uFillTx/>
              <a:latin typeface="Arial"/>
            </a:endParaRPr>
          </a:p>
          <a:p>
            <a:pPr defTabSz="914400">
              <a:lnSpc>
                <a:spcPct val="100000"/>
              </a:lnSpc>
              <a:spcBef>
                <a:spcPts val="1191"/>
              </a:spcBef>
              <a:spcAft>
                <a:spcPts val="992"/>
              </a:spcAft>
            </a:pPr>
            <a:endParaRPr b="0" lang="en-US" sz="2000" strike="noStrike" u="none">
              <a:solidFill>
                <a:srgbClr val="000000"/>
              </a:solidFill>
              <a:effectLst/>
              <a:uFillTx/>
              <a:latin typeface="Arial"/>
            </a:endParaRPr>
          </a:p>
        </p:txBody>
      </p:sp>
      <p:sp>
        <p:nvSpPr>
          <p:cNvPr id="87" name="TextBox 57"/>
          <p:cNvSpPr/>
          <p:nvPr/>
        </p:nvSpPr>
        <p:spPr>
          <a:xfrm>
            <a:off x="878400" y="3872880"/>
            <a:ext cx="8722800" cy="6994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2000" spc="-150" strike="noStrike" u="none">
                <a:solidFill>
                  <a:srgbClr val="000000"/>
                </a:solidFill>
                <a:effectLst/>
                <a:uFillTx/>
                <a:latin typeface="나눔스퀘어 ExtraBold"/>
                <a:ea typeface="나눔스퀘어 ExtraBold"/>
              </a:rPr>
              <a:t>2013-01-01 ~ 2021-10-30 </a:t>
            </a:r>
            <a:r>
              <a:rPr b="0" lang="ko-KR" sz="2000" spc="-150" strike="noStrike" u="none">
                <a:solidFill>
                  <a:srgbClr val="000000"/>
                </a:solidFill>
                <a:effectLst/>
                <a:uFillTx/>
                <a:latin typeface="나눔스퀘어 ExtraBold"/>
                <a:ea typeface="나눔스퀘어 ExtraBold"/>
              </a:rPr>
              <a:t>까지의 데이터를 </a:t>
            </a:r>
            <a:endParaRPr b="0" lang="en-US" sz="2000" strike="noStrike" u="none">
              <a:solidFill>
                <a:srgbClr val="000000"/>
              </a:solidFill>
              <a:effectLst/>
              <a:uFillTx/>
              <a:latin typeface="Arial"/>
            </a:endParaRPr>
          </a:p>
          <a:p>
            <a:pPr algn="ctr" defTabSz="914400">
              <a:lnSpc>
                <a:spcPct val="100000"/>
              </a:lnSpc>
            </a:pPr>
            <a:r>
              <a:rPr b="0" lang="ko-KR" sz="2000" spc="-150" strike="noStrike" u="none">
                <a:solidFill>
                  <a:srgbClr val="000000"/>
                </a:solidFill>
                <a:effectLst/>
                <a:uFillTx/>
                <a:latin typeface="나눔스퀘어 ExtraBold"/>
                <a:ea typeface="나눔스퀘어 ExtraBold"/>
              </a:rPr>
              <a:t>변형하여 </a:t>
            </a:r>
            <a:r>
              <a:rPr b="0" lang="en-US" sz="2000" spc="-150" strike="noStrike" u="none">
                <a:solidFill>
                  <a:srgbClr val="000000"/>
                </a:solidFill>
                <a:effectLst/>
                <a:uFillTx/>
                <a:latin typeface="나눔스퀘어 ExtraBold"/>
                <a:ea typeface="나눔스퀘어 ExtraBold"/>
              </a:rPr>
              <a:t>2026</a:t>
            </a:r>
            <a:r>
              <a:rPr b="0" lang="ko-KR" sz="2000" spc="-150" strike="noStrike" u="none">
                <a:solidFill>
                  <a:srgbClr val="000000"/>
                </a:solidFill>
                <a:effectLst/>
                <a:uFillTx/>
                <a:latin typeface="나눔스퀘어 ExtraBold"/>
                <a:ea typeface="나눔스퀘어 ExtraBold"/>
              </a:rPr>
              <a:t>년 </a:t>
            </a:r>
            <a:r>
              <a:rPr b="0" lang="en-US" sz="2000" spc="-150" strike="noStrike" u="none">
                <a:solidFill>
                  <a:srgbClr val="000000"/>
                </a:solidFill>
                <a:effectLst/>
                <a:uFillTx/>
                <a:latin typeface="나눔스퀘어 ExtraBold"/>
                <a:ea typeface="나눔스퀘어 ExtraBold"/>
              </a:rPr>
              <a:t>1</a:t>
            </a:r>
            <a:r>
              <a:rPr b="0" lang="ko-KR" sz="2000" spc="-150" strike="noStrike" u="none">
                <a:solidFill>
                  <a:srgbClr val="000000"/>
                </a:solidFill>
                <a:effectLst/>
                <a:uFillTx/>
                <a:latin typeface="나눔스퀘어 ExtraBold"/>
                <a:ea typeface="나눔스퀘어 ExtraBold"/>
              </a:rPr>
              <a:t>월 </a:t>
            </a:r>
            <a:r>
              <a:rPr b="0" lang="en-US" sz="2000" spc="-150" strike="noStrike" u="none">
                <a:solidFill>
                  <a:srgbClr val="000000"/>
                </a:solidFill>
                <a:effectLst/>
                <a:uFillTx/>
                <a:latin typeface="나눔스퀘어 ExtraBold"/>
                <a:ea typeface="나눔스퀘어 ExtraBold"/>
              </a:rPr>
              <a:t>1</a:t>
            </a:r>
            <a:r>
              <a:rPr b="0" lang="ko-KR" sz="2000" spc="-150" strike="noStrike" u="none">
                <a:solidFill>
                  <a:srgbClr val="000000"/>
                </a:solidFill>
                <a:effectLst/>
                <a:uFillTx/>
                <a:latin typeface="나눔스퀘어 ExtraBold"/>
                <a:ea typeface="나눔스퀘어 ExtraBold"/>
              </a:rPr>
              <a:t>일 </a:t>
            </a:r>
            <a:r>
              <a:rPr b="0" lang="en-US" sz="2000" spc="-150" strike="noStrike" u="none">
                <a:solidFill>
                  <a:srgbClr val="000000"/>
                </a:solidFill>
                <a:effectLst/>
                <a:uFillTx/>
                <a:latin typeface="나눔스퀘어 ExtraBold"/>
                <a:ea typeface="나눔스퀘어 ExtraBold"/>
              </a:rPr>
              <a:t>~ 1</a:t>
            </a:r>
            <a:r>
              <a:rPr b="0" lang="ko-KR" sz="2000" spc="-150" strike="noStrike" u="none">
                <a:solidFill>
                  <a:srgbClr val="000000"/>
                </a:solidFill>
                <a:effectLst/>
                <a:uFillTx/>
                <a:latin typeface="나눔스퀘어 ExtraBold"/>
                <a:ea typeface="나눔스퀘어 ExtraBold"/>
              </a:rPr>
              <a:t>월 </a:t>
            </a:r>
            <a:r>
              <a:rPr b="0" lang="en-US" sz="2000" spc="-150" strike="noStrike" u="none">
                <a:solidFill>
                  <a:srgbClr val="000000"/>
                </a:solidFill>
                <a:effectLst/>
                <a:uFillTx/>
                <a:latin typeface="나눔스퀘어 ExtraBold"/>
                <a:ea typeface="나눔스퀘어 ExtraBold"/>
              </a:rPr>
              <a:t>31</a:t>
            </a:r>
            <a:r>
              <a:rPr b="0" lang="ko-KR" sz="2000" spc="-150" strike="noStrike" u="none">
                <a:solidFill>
                  <a:srgbClr val="000000"/>
                </a:solidFill>
                <a:effectLst/>
                <a:uFillTx/>
                <a:latin typeface="나눔스퀘어 ExtraBold"/>
                <a:ea typeface="나눔스퀘어 ExtraBold"/>
              </a:rPr>
              <a:t>일까지 </a:t>
            </a:r>
            <a:r>
              <a:rPr b="0" lang="en-US" sz="2000" spc="-150" strike="noStrike" u="none">
                <a:solidFill>
                  <a:srgbClr val="000000"/>
                </a:solidFill>
                <a:effectLst/>
                <a:uFillTx/>
                <a:latin typeface="나눔스퀘어 ExtraBold"/>
                <a:ea typeface="나눔스퀘어 ExtraBold"/>
              </a:rPr>
              <a:t>15</a:t>
            </a:r>
            <a:r>
              <a:rPr b="0" lang="ko-KR" sz="2000" spc="-150" strike="noStrike" u="none">
                <a:solidFill>
                  <a:srgbClr val="000000"/>
                </a:solidFill>
                <a:effectLst/>
                <a:uFillTx/>
                <a:latin typeface="나눔스퀘어 ExtraBold"/>
                <a:ea typeface="나눔스퀘어 ExtraBold"/>
              </a:rPr>
              <a:t>시</a:t>
            </a:r>
            <a:r>
              <a:rPr b="0" lang="en-US" sz="2000" spc="-150" strike="noStrike" u="none">
                <a:solidFill>
                  <a:srgbClr val="000000"/>
                </a:solidFill>
                <a:effectLst/>
                <a:uFillTx/>
                <a:latin typeface="나눔스퀘어 ExtraBold"/>
                <a:ea typeface="나눔스퀘어 ExtraBold"/>
              </a:rPr>
              <a:t>~16</a:t>
            </a:r>
            <a:r>
              <a:rPr b="0" lang="ko-KR" sz="2000" spc="-150" strike="noStrike" u="none">
                <a:solidFill>
                  <a:srgbClr val="000000"/>
                </a:solidFill>
                <a:effectLst/>
                <a:uFillTx/>
                <a:latin typeface="나눔스퀘어 ExtraBold"/>
                <a:ea typeface="나눔스퀘어 ExtraBold"/>
              </a:rPr>
              <a:t>시 데이터로 생각하고 진행</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88" name="TextBox 58"/>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89" name="TextBox 59"/>
          <p:cNvSpPr/>
          <p:nvPr/>
        </p:nvSpPr>
        <p:spPr>
          <a:xfrm>
            <a:off x="3840840" y="138240"/>
            <a:ext cx="197100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저장방식</a:t>
            </a:r>
            <a:endParaRPr b="0" lang="en-US" sz="4000" strike="noStrike" u="none">
              <a:solidFill>
                <a:srgbClr val="000000"/>
              </a:solidFill>
              <a:effectLst/>
              <a:uFillTx/>
              <a:latin typeface="Arial"/>
            </a:endParaRPr>
          </a:p>
        </p:txBody>
      </p:sp>
      <p:sp>
        <p:nvSpPr>
          <p:cNvPr id="90" name="TextBox 60"/>
          <p:cNvSpPr/>
          <p:nvPr/>
        </p:nvSpPr>
        <p:spPr>
          <a:xfrm>
            <a:off x="1664280" y="1433520"/>
            <a:ext cx="3937320" cy="22240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1. </a:t>
            </a:r>
            <a:r>
              <a:rPr b="0" lang="ko-KR" sz="2000" spc="-150" strike="noStrike" u="none">
                <a:solidFill>
                  <a:srgbClr val="000000"/>
                </a:solidFill>
                <a:effectLst/>
                <a:uFillTx/>
                <a:latin typeface="나눔스퀘어 ExtraBold"/>
                <a:ea typeface="나눔스퀘어 ExtraBold"/>
              </a:rPr>
              <a:t>원본데이터 </a:t>
            </a:r>
            <a:r>
              <a:rPr b="0" lang="en-US" sz="2000" spc="-150" strike="noStrike" u="none">
                <a:solidFill>
                  <a:srgbClr val="000000"/>
                </a:solidFill>
                <a:effectLst/>
                <a:uFillTx/>
                <a:latin typeface="나눔스퀘어 ExtraBold"/>
                <a:ea typeface="나눔스퀘어 ExtraBold"/>
              </a:rPr>
              <a:t>(Raw data)</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2. Kafka </a:t>
            </a:r>
            <a:r>
              <a:rPr b="0" lang="ko-KR" sz="2000" spc="-150" strike="noStrike" u="none">
                <a:solidFill>
                  <a:srgbClr val="000000"/>
                </a:solidFill>
                <a:effectLst/>
                <a:uFillTx/>
                <a:latin typeface="나눔스퀘어 ExtraBold"/>
                <a:ea typeface="나눔스퀘어 ExtraBold"/>
              </a:rPr>
              <a:t>적재되는 데이터</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3. </a:t>
            </a:r>
            <a:r>
              <a:rPr b="0" lang="ko-KR" sz="2000" spc="-150" strike="noStrike" u="none">
                <a:solidFill>
                  <a:srgbClr val="000000"/>
                </a:solidFill>
                <a:effectLst/>
                <a:uFillTx/>
                <a:latin typeface="나눔스퀘어 ExtraBold"/>
                <a:ea typeface="나눔스퀘어 ExtraBold"/>
              </a:rPr>
              <a:t>마트 데이터</a:t>
            </a:r>
            <a:r>
              <a:rPr b="0" lang="en-US" sz="2000" spc="-150" strike="noStrike" u="none">
                <a:solidFill>
                  <a:srgbClr val="000000"/>
                </a:solidFill>
                <a:effectLst/>
                <a:uFillTx/>
                <a:latin typeface="나눔스퀘어 ExtraBold"/>
                <a:ea typeface="나눔스퀘어 ExtraBold"/>
              </a:rPr>
              <a:t>(</a:t>
            </a:r>
            <a:r>
              <a:rPr b="0" lang="ko-KR" sz="2000" spc="-150" strike="noStrike" u="none">
                <a:solidFill>
                  <a:srgbClr val="000000"/>
                </a:solidFill>
                <a:effectLst/>
                <a:uFillTx/>
                <a:latin typeface="나눔스퀘어 ExtraBold"/>
                <a:ea typeface="나눔스퀘어 ExtraBold"/>
              </a:rPr>
              <a:t>배치</a:t>
            </a:r>
            <a:r>
              <a:rPr b="0" lang="en-US" sz="2000" spc="-150" strike="noStrike" u="none">
                <a:solidFill>
                  <a:srgbClr val="000000"/>
                </a:solidFill>
                <a:effectLst/>
                <a:uFillTx/>
                <a:latin typeface="나눔스퀘어 ExtraBold"/>
                <a:ea typeface="나눔스퀘어 ExtraBold"/>
              </a:rPr>
              <a:t>)</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4. </a:t>
            </a:r>
            <a:r>
              <a:rPr b="0" lang="ko-KR" sz="2000" spc="-150" strike="noStrike" u="none">
                <a:solidFill>
                  <a:srgbClr val="000000"/>
                </a:solidFill>
                <a:effectLst/>
                <a:uFillTx/>
                <a:latin typeface="나눔스퀘어 ExtraBold"/>
                <a:ea typeface="나눔스퀘어 ExtraBold"/>
              </a:rPr>
              <a:t>마트 데이터</a:t>
            </a:r>
            <a:r>
              <a:rPr b="0" lang="en-US" sz="2000" spc="-150" strike="noStrike" u="none">
                <a:solidFill>
                  <a:srgbClr val="000000"/>
                </a:solidFill>
                <a:effectLst/>
                <a:uFillTx/>
                <a:latin typeface="나눔스퀘어 ExtraBold"/>
                <a:ea typeface="나눔스퀘어 ExtraBold"/>
              </a:rPr>
              <a:t>(</a:t>
            </a:r>
            <a:r>
              <a:rPr b="0" lang="ko-KR" sz="2000" spc="-150" strike="noStrike" u="none">
                <a:solidFill>
                  <a:srgbClr val="000000"/>
                </a:solidFill>
                <a:effectLst/>
                <a:uFillTx/>
                <a:latin typeface="나눔스퀘어 ExtraBold"/>
                <a:ea typeface="나눔스퀘어 ExtraBold"/>
              </a:rPr>
              <a:t>실시간</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에 대한 설명</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91" name="TextBox 61"/>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92" name="TextBox 62"/>
          <p:cNvSpPr/>
          <p:nvPr/>
        </p:nvSpPr>
        <p:spPr>
          <a:xfrm>
            <a:off x="3069000" y="138240"/>
            <a:ext cx="35150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데이터 수집 방법</a:t>
            </a:r>
            <a:endParaRPr b="0" lang="en-US" sz="4000" strike="noStrike" u="none">
              <a:solidFill>
                <a:srgbClr val="000000"/>
              </a:solidFill>
              <a:effectLst/>
              <a:uFillTx/>
              <a:latin typeface="Arial"/>
            </a:endParaRPr>
          </a:p>
        </p:txBody>
      </p:sp>
      <p:sp>
        <p:nvSpPr>
          <p:cNvPr id="93" name="TextBox 63"/>
          <p:cNvSpPr/>
          <p:nvPr/>
        </p:nvSpPr>
        <p:spPr>
          <a:xfrm>
            <a:off x="1664280" y="1433520"/>
            <a:ext cx="9495360" cy="395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Json </a:t>
            </a:r>
            <a:r>
              <a:rPr b="0" lang="ko-KR" sz="2000" spc="-150" strike="noStrike" u="none">
                <a:solidFill>
                  <a:srgbClr val="000000"/>
                </a:solidFill>
                <a:effectLst/>
                <a:uFillTx/>
                <a:latin typeface="나눔스퀘어 ExtraBold"/>
                <a:ea typeface="나눔스퀘어 ExtraBold"/>
              </a:rPr>
              <a:t>로그 → </a:t>
            </a:r>
            <a:r>
              <a:rPr b="0" lang="en-US" sz="2000" spc="-150" strike="noStrike" u="none">
                <a:solidFill>
                  <a:srgbClr val="000000"/>
                </a:solidFill>
                <a:effectLst/>
                <a:uFillTx/>
                <a:latin typeface="나눔스퀘어 ExtraBold"/>
                <a:ea typeface="나눔스퀘어 ExtraBold"/>
              </a:rPr>
              <a:t>kafka </a:t>
            </a:r>
            <a:r>
              <a:rPr b="0" lang="ko-KR" sz="2000" spc="-150" strike="noStrike" u="none">
                <a:solidFill>
                  <a:srgbClr val="000000"/>
                </a:solidFill>
                <a:effectLst/>
                <a:uFillTx/>
                <a:latin typeface="나눔스퀘어 ExtraBold"/>
                <a:ea typeface="나눔스퀘어 ExtraBold"/>
              </a:rPr>
              <a:t>브로커 → </a:t>
            </a:r>
            <a:r>
              <a:rPr b="0" lang="en-US" sz="2000" spc="-150" strike="noStrike" u="none">
                <a:solidFill>
                  <a:srgbClr val="000000"/>
                </a:solidFill>
                <a:effectLst/>
                <a:uFillTx/>
                <a:latin typeface="나눔스퀘어 ExtraBold"/>
                <a:ea typeface="나눔스퀘어 ExtraBold"/>
              </a:rPr>
              <a:t>Spark </a:t>
            </a:r>
            <a:r>
              <a:rPr b="0" lang="ko-KR" sz="2000" spc="-150" strike="noStrike" u="none">
                <a:solidFill>
                  <a:srgbClr val="000000"/>
                </a:solidFill>
                <a:effectLst/>
                <a:uFillTx/>
                <a:latin typeface="나눔스퀘어 ExtraBold"/>
                <a:ea typeface="나눔스퀘어 ExtraBold"/>
              </a:rPr>
              <a:t>배치</a:t>
            </a:r>
            <a:r>
              <a:rPr b="0" lang="en-US" sz="2000" spc="-150" strike="noStrike" u="none">
                <a:solidFill>
                  <a:srgbClr val="000000"/>
                </a:solidFill>
                <a:effectLst/>
                <a:uFillTx/>
                <a:latin typeface="나눔스퀘어 ExtraBold"/>
                <a:ea typeface="나눔스퀘어 ExtraBold"/>
              </a:rPr>
              <a:t>, streamingsql </a:t>
            </a:r>
            <a:r>
              <a:rPr b="0" lang="ko-KR" sz="2000" spc="-150" strike="noStrike" u="none">
                <a:solidFill>
                  <a:srgbClr val="000000"/>
                </a:solidFill>
                <a:effectLst/>
                <a:uFillTx/>
                <a:latin typeface="나눔스퀘어 ExtraBold"/>
                <a:ea typeface="나눔스퀘어 ExtraBold"/>
              </a:rPr>
              <a:t>처리를 통한 </a:t>
            </a:r>
            <a:r>
              <a:rPr b="0" lang="en-US" sz="2000" spc="-150" strike="noStrike" u="none">
                <a:solidFill>
                  <a:srgbClr val="000000"/>
                </a:solidFill>
                <a:effectLst/>
                <a:uFillTx/>
                <a:latin typeface="나눔스퀘어 ExtraBold"/>
                <a:ea typeface="나눔스퀘어 ExtraBold"/>
              </a:rPr>
              <a:t>pgsql </a:t>
            </a:r>
            <a:r>
              <a:rPr b="0" lang="ko-KR" sz="2000" spc="-150" strike="noStrike" u="none">
                <a:solidFill>
                  <a:srgbClr val="000000"/>
                </a:solidFill>
                <a:effectLst/>
                <a:uFillTx/>
                <a:latin typeface="나눔스퀘어 ExtraBold"/>
                <a:ea typeface="나눔스퀘어 ExtraBold"/>
              </a:rPr>
              <a:t>마트적재 흐름</a:t>
            </a:r>
            <a:endParaRPr b="0" lang="en-US" sz="2000" strike="noStrike" u="none">
              <a:solidFill>
                <a:srgbClr val="000000"/>
              </a:solidFill>
              <a:effectLst/>
              <a:uFillTx/>
              <a:latin typeface="Arial"/>
            </a:endParaRPr>
          </a:p>
        </p:txBody>
      </p:sp>
      <p:sp>
        <p:nvSpPr>
          <p:cNvPr id="94" name="TextBox 64"/>
          <p:cNvSpPr/>
          <p:nvPr/>
        </p:nvSpPr>
        <p:spPr>
          <a:xfrm>
            <a:off x="334440" y="4572000"/>
            <a:ext cx="6043680" cy="395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Producer </a:t>
            </a:r>
            <a:r>
              <a:rPr b="0" lang="ko-KR" sz="2000" spc="-150" strike="noStrike" u="none">
                <a:solidFill>
                  <a:srgbClr val="000000"/>
                </a:solidFill>
                <a:effectLst/>
                <a:uFillTx/>
                <a:latin typeface="나눔스퀘어 ExtraBold"/>
                <a:ea typeface="나눔스퀘어 ExtraBold"/>
              </a:rPr>
              <a:t>역할</a:t>
            </a:r>
            <a:r>
              <a:rPr b="0" lang="en-US" sz="2000" spc="-150" strike="noStrike" u="none">
                <a:solidFill>
                  <a:srgbClr val="000000"/>
                </a:solidFill>
                <a:effectLst/>
                <a:uFillTx/>
                <a:latin typeface="나눔스퀘어 ExtraBold"/>
                <a:ea typeface="나눔스퀘어 ExtraBold"/>
              </a:rPr>
              <a:t>, kafka </a:t>
            </a:r>
            <a:r>
              <a:rPr b="0" lang="ko-KR" sz="2000" spc="-150" strike="noStrike" u="none">
                <a:solidFill>
                  <a:srgbClr val="000000"/>
                </a:solidFill>
                <a:effectLst/>
                <a:uFillTx/>
                <a:latin typeface="나눔스퀘어 ExtraBold"/>
                <a:ea typeface="나눔스퀘어 ExtraBold"/>
              </a:rPr>
              <a:t>역할</a:t>
            </a:r>
            <a:r>
              <a:rPr b="0" lang="en-US" sz="2000" spc="-150" strike="noStrike" u="none">
                <a:solidFill>
                  <a:srgbClr val="000000"/>
                </a:solidFill>
                <a:effectLst/>
                <a:uFillTx/>
                <a:latin typeface="나눔스퀘어 ExtraBold"/>
                <a:ea typeface="나눔스퀘어 ExtraBold"/>
              </a:rPr>
              <a:t>, consumer </a:t>
            </a:r>
            <a:r>
              <a:rPr b="0" lang="ko-KR" sz="2000" spc="-150" strike="noStrike" u="none">
                <a:solidFill>
                  <a:srgbClr val="000000"/>
                </a:solidFill>
                <a:effectLst/>
                <a:uFillTx/>
                <a:latin typeface="나눔스퀘어 ExtraBold"/>
                <a:ea typeface="나눔스퀘어 ExtraBold"/>
              </a:rPr>
              <a:t>역할에 대한 내용</a:t>
            </a:r>
            <a:endParaRPr b="0" lang="en-US" sz="2000" strike="noStrike" u="none">
              <a:solidFill>
                <a:srgbClr val="000000"/>
              </a:solidFill>
              <a:effectLst/>
              <a:uFillTx/>
              <a:latin typeface="Arial"/>
            </a:endParaRPr>
          </a:p>
        </p:txBody>
      </p:sp>
      <p:sp>
        <p:nvSpPr>
          <p:cNvPr id="95" name="TextBox 65"/>
          <p:cNvSpPr/>
          <p:nvPr/>
        </p:nvSpPr>
        <p:spPr>
          <a:xfrm>
            <a:off x="1248840" y="2576520"/>
            <a:ext cx="3778200" cy="395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ko-KR" sz="2000" spc="-150" strike="noStrike" u="none">
                <a:solidFill>
                  <a:srgbClr val="000000"/>
                </a:solidFill>
                <a:effectLst/>
                <a:uFillTx/>
                <a:latin typeface="나눔스퀘어 ExtraBold"/>
                <a:ea typeface="나눔스퀘어 ExtraBold"/>
              </a:rPr>
              <a:t>여기 부분 다이어그램만 확대하여 설명</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96" name="TextBox 66"/>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97" name="TextBox 67"/>
          <p:cNvSpPr/>
          <p:nvPr/>
        </p:nvSpPr>
        <p:spPr>
          <a:xfrm>
            <a:off x="3356640" y="138240"/>
            <a:ext cx="294156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4000" spc="-150" strike="noStrike" u="none">
                <a:solidFill>
                  <a:srgbClr val="000000"/>
                </a:solidFill>
                <a:effectLst/>
                <a:uFillTx/>
                <a:latin typeface="나눔스퀘어 ExtraBold"/>
                <a:ea typeface="나눔스퀘어 ExtraBold"/>
              </a:rPr>
              <a:t>Why Kafka?</a:t>
            </a:r>
            <a:endParaRPr b="0" lang="en-US" sz="4000" strike="noStrike" u="none">
              <a:solidFill>
                <a:srgbClr val="000000"/>
              </a:solidFill>
              <a:effectLst/>
              <a:uFillTx/>
              <a:latin typeface="Arial"/>
            </a:endParaRPr>
          </a:p>
        </p:txBody>
      </p:sp>
      <p:sp>
        <p:nvSpPr>
          <p:cNvPr id="98" name="TextBox 69"/>
          <p:cNvSpPr/>
          <p:nvPr/>
        </p:nvSpPr>
        <p:spPr>
          <a:xfrm>
            <a:off x="1042920" y="1890720"/>
            <a:ext cx="652464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Kafka </a:t>
            </a:r>
            <a:r>
              <a:rPr b="0" lang="ko-KR" sz="2000" spc="-150" strike="noStrike" u="none">
                <a:solidFill>
                  <a:srgbClr val="000000"/>
                </a:solidFill>
                <a:effectLst/>
                <a:uFillTx/>
                <a:latin typeface="나눔스퀘어 ExtraBold"/>
                <a:ea typeface="나눔스퀘어 ExtraBold"/>
              </a:rPr>
              <a:t>를 선택한 이유</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a:t>
            </a:r>
            <a:r>
              <a:rPr b="0" lang="ko-KR" sz="2000" spc="-150" strike="noStrike" u="none">
                <a:solidFill>
                  <a:srgbClr val="000000"/>
                </a:solidFill>
                <a:effectLst/>
                <a:uFillTx/>
                <a:latin typeface="나눔스퀘어 ExtraBold"/>
                <a:ea typeface="나눔스퀘어 ExtraBold"/>
              </a:rPr>
              <a:t>내 프로젝트’에서 왜 </a:t>
            </a:r>
            <a:r>
              <a:rPr b="0" lang="en-US" sz="2000" spc="-150" strike="noStrike" u="none">
                <a:solidFill>
                  <a:srgbClr val="000000"/>
                </a:solidFill>
                <a:effectLst/>
                <a:uFillTx/>
                <a:latin typeface="나눔스퀘어 ExtraBold"/>
                <a:ea typeface="나눔스퀘어 ExtraBold"/>
              </a:rPr>
              <a:t>kafka</a:t>
            </a:r>
            <a:r>
              <a:rPr b="0" lang="ko-KR" sz="2000" spc="-150" strike="noStrike" u="none">
                <a:solidFill>
                  <a:srgbClr val="000000"/>
                </a:solidFill>
                <a:effectLst/>
                <a:uFillTx/>
                <a:latin typeface="나눔스퀘어 ExtraBold"/>
                <a:ea typeface="나눔스퀘어 ExtraBold"/>
              </a:rPr>
              <a:t>를 사용해야했는지에 대한 이유 중심</a:t>
            </a:r>
            <a:r>
              <a:rPr b="0" lang="en-US" sz="2000" spc="-150" strike="noStrike" u="none">
                <a:solidFill>
                  <a:srgbClr val="000000"/>
                </a:solidFill>
                <a:effectLst/>
                <a:uFillTx/>
                <a:latin typeface="나눔스퀘어 ExtraBold"/>
                <a:ea typeface="나눔스퀘어 ExtraBold"/>
              </a:rPr>
              <a:t>)</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Kafka </a:t>
            </a:r>
            <a:r>
              <a:rPr b="0" lang="ko-KR" sz="2000" spc="-150" strike="noStrike" u="none">
                <a:solidFill>
                  <a:srgbClr val="000000"/>
                </a:solidFill>
                <a:effectLst/>
                <a:uFillTx/>
                <a:latin typeface="나눔스퀘어 ExtraBold"/>
                <a:ea typeface="나눔스퀘어 ExtraBold"/>
              </a:rPr>
              <a:t>구성에 대해 설정값들 설명</a:t>
            </a:r>
            <a:r>
              <a:rPr b="0" lang="en-US" sz="2000" spc="-150" strike="noStrike" u="none">
                <a:solidFill>
                  <a:srgbClr val="000000"/>
                </a:solidFill>
                <a:effectLst/>
                <a:uFillTx/>
                <a:latin typeface="나눔스퀘어 ExtraBold"/>
                <a:ea typeface="나눔스퀘어 ExtraBold"/>
              </a:rPr>
              <a:t>(retention, partition</a:t>
            </a:r>
            <a:r>
              <a:rPr b="0" lang="ko-KR" sz="2000" spc="-150" strike="noStrike" u="none">
                <a:solidFill>
                  <a:srgbClr val="000000"/>
                </a:solidFill>
                <a:effectLst/>
                <a:uFillTx/>
                <a:latin typeface="나눔스퀘어 ExtraBold"/>
                <a:ea typeface="나눔스퀘어 ExtraBold"/>
              </a:rPr>
              <a:t>방식 등</a:t>
            </a:r>
            <a:r>
              <a:rPr b="0" lang="en-US" sz="2000" spc="-150" strike="noStrike" u="none">
                <a:solidFill>
                  <a:srgbClr val="000000"/>
                </a:solidFill>
                <a:effectLst/>
                <a:uFillTx/>
                <a:latin typeface="나눔스퀘어 ExtraBold"/>
                <a:ea typeface="나눔스퀘어 ExtraBold"/>
              </a:rPr>
              <a:t>)</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99" name="TextBox 68"/>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00" name="TextBox 70"/>
          <p:cNvSpPr/>
          <p:nvPr/>
        </p:nvSpPr>
        <p:spPr>
          <a:xfrm>
            <a:off x="2166840" y="138240"/>
            <a:ext cx="532332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주요 처리로직 </a:t>
            </a:r>
            <a:r>
              <a:rPr b="0" lang="en-US" sz="4000" spc="-150" strike="noStrike" u="none">
                <a:solidFill>
                  <a:srgbClr val="000000"/>
                </a:solidFill>
                <a:effectLst/>
                <a:uFillTx/>
                <a:latin typeface="나눔스퀘어 ExtraBold"/>
                <a:ea typeface="나눔스퀘어 ExtraBold"/>
              </a:rPr>
              <a:t>Producer</a:t>
            </a:r>
            <a:endParaRPr b="0" lang="en-US" sz="4000" strike="noStrike" u="none">
              <a:solidFill>
                <a:srgbClr val="000000"/>
              </a:solidFill>
              <a:effectLst/>
              <a:uFillTx/>
              <a:latin typeface="Arial"/>
            </a:endParaRPr>
          </a:p>
        </p:txBody>
      </p:sp>
      <p:sp>
        <p:nvSpPr>
          <p:cNvPr id="101" name="TextBox 71"/>
          <p:cNvSpPr/>
          <p:nvPr/>
        </p:nvSpPr>
        <p:spPr>
          <a:xfrm>
            <a:off x="1042920" y="1890720"/>
            <a:ext cx="813960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Producer </a:t>
            </a:r>
            <a:r>
              <a:rPr b="0" lang="ko-KR" sz="2000" spc="-150" strike="noStrike" u="none">
                <a:solidFill>
                  <a:srgbClr val="000000"/>
                </a:solidFill>
                <a:effectLst/>
                <a:uFillTx/>
                <a:latin typeface="나눔스퀘어 ExtraBold"/>
                <a:ea typeface="나눔스퀘어 ExtraBold"/>
              </a:rPr>
              <a:t>로직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ko-KR" sz="2000" spc="-150" strike="noStrike" u="none">
                <a:solidFill>
                  <a:srgbClr val="000000"/>
                </a:solidFill>
                <a:effectLst/>
                <a:uFillTx/>
                <a:latin typeface="나눔스퀘어 ExtraBold"/>
                <a:ea typeface="나눔스퀘어 ExtraBold"/>
              </a:rPr>
              <a:t>왜 </a:t>
            </a:r>
            <a:r>
              <a:rPr b="0" lang="en-US" sz="2000" spc="-150" strike="noStrike" u="none">
                <a:solidFill>
                  <a:srgbClr val="000000"/>
                </a:solidFill>
                <a:effectLst/>
                <a:uFillTx/>
                <a:latin typeface="나눔스퀘어 ExtraBold"/>
                <a:ea typeface="나눔스퀘어 ExtraBold"/>
              </a:rPr>
              <a:t>dockeroperator</a:t>
            </a:r>
            <a:r>
              <a:rPr b="0" lang="ko-KR" sz="2000" spc="-150" strike="noStrike" u="none">
                <a:solidFill>
                  <a:srgbClr val="000000"/>
                </a:solidFill>
                <a:effectLst/>
                <a:uFillTx/>
                <a:latin typeface="나눔스퀘어 ExtraBold"/>
                <a:ea typeface="나눔스퀘어 ExtraBold"/>
              </a:rPr>
              <a:t>로 구성했는지</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어떤 것들을 고려하여 설정했는지에 대한 내용</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Xxhash </a:t>
            </a:r>
            <a:r>
              <a:rPr b="0" lang="ko-KR" sz="2000" spc="-150" strike="noStrike" u="none">
                <a:solidFill>
                  <a:srgbClr val="000000"/>
                </a:solidFill>
                <a:effectLst/>
                <a:uFillTx/>
                <a:latin typeface="나눔스퀘어 ExtraBold"/>
                <a:ea typeface="나눔스퀘어 ExtraBold"/>
              </a:rPr>
              <a:t>기반 값 부여라든지 그런것들</a:t>
            </a:r>
            <a:r>
              <a:rPr b="0" lang="en-US" sz="2000" spc="-150" strike="noStrike" u="none">
                <a:solidFill>
                  <a:srgbClr val="000000"/>
                </a:solidFill>
                <a:effectLst/>
                <a:uFillTx/>
                <a:latin typeface="나눔스퀘어 ExtraBold"/>
                <a:ea typeface="나눔스퀘어 ExtraBold"/>
              </a:rPr>
              <a:t>. </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02" name="TextBox 72"/>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03" name="TextBox 73"/>
          <p:cNvSpPr/>
          <p:nvPr/>
        </p:nvSpPr>
        <p:spPr>
          <a:xfrm>
            <a:off x="1293840" y="138240"/>
            <a:ext cx="70700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주요 처리로직 </a:t>
            </a:r>
            <a:r>
              <a:rPr b="0" lang="en-US" sz="4000" spc="-150" strike="noStrike" u="none">
                <a:solidFill>
                  <a:srgbClr val="000000"/>
                </a:solidFill>
                <a:effectLst/>
                <a:uFillTx/>
                <a:latin typeface="나눔스퀘어 ExtraBold"/>
                <a:ea typeface="나눔스퀘어 ExtraBold"/>
              </a:rPr>
              <a:t>Consumer(</a:t>
            </a:r>
            <a:r>
              <a:rPr b="0" lang="ko-KR" sz="4000" spc="-150" strike="noStrike" u="none">
                <a:solidFill>
                  <a:srgbClr val="000000"/>
                </a:solidFill>
                <a:effectLst/>
                <a:uFillTx/>
                <a:latin typeface="나눔스퀘어 ExtraBold"/>
                <a:ea typeface="나눔스퀘어 ExtraBold"/>
              </a:rPr>
              <a:t>배치</a:t>
            </a:r>
            <a:r>
              <a:rPr b="0" lang="en-US" sz="4000" spc="-150" strike="noStrike" u="none">
                <a:solidFill>
                  <a:srgbClr val="000000"/>
                </a:solidFill>
                <a:effectLst/>
                <a:uFillTx/>
                <a:latin typeface="나눔스퀘어 ExtraBold"/>
                <a:ea typeface="나눔스퀘어 ExtraBold"/>
              </a:rPr>
              <a:t>)</a:t>
            </a:r>
            <a:endParaRPr b="0" lang="en-US" sz="4000" strike="noStrike" u="none">
              <a:solidFill>
                <a:srgbClr val="000000"/>
              </a:solidFill>
              <a:effectLst/>
              <a:uFillTx/>
              <a:latin typeface="Arial"/>
            </a:endParaRPr>
          </a:p>
        </p:txBody>
      </p:sp>
      <p:sp>
        <p:nvSpPr>
          <p:cNvPr id="104" name="TextBox 74"/>
          <p:cNvSpPr/>
          <p:nvPr/>
        </p:nvSpPr>
        <p:spPr>
          <a:xfrm>
            <a:off x="1042920" y="1890720"/>
            <a:ext cx="6954840" cy="1004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Spark </a:t>
            </a:r>
            <a:r>
              <a:rPr b="0" lang="ko-KR" sz="2000" spc="-150" strike="noStrike" u="none">
                <a:solidFill>
                  <a:srgbClr val="000000"/>
                </a:solidFill>
                <a:effectLst/>
                <a:uFillTx/>
                <a:latin typeface="나눔스퀘어 ExtraBold"/>
                <a:ea typeface="나눔스퀘어 ExtraBold"/>
              </a:rPr>
              <a:t>배치 적재로직 코드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Sshoperator </a:t>
            </a:r>
            <a:r>
              <a:rPr b="0" lang="ko-KR" sz="2000" spc="-150" strike="noStrike" u="none">
                <a:solidFill>
                  <a:srgbClr val="000000"/>
                </a:solidFill>
                <a:effectLst/>
                <a:uFillTx/>
                <a:latin typeface="나눔스퀘어 ExtraBold"/>
                <a:ea typeface="나눔스퀘어 ExtraBold"/>
              </a:rPr>
              <a:t>사용 이유 및 인프라 구성</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목적 및 처리방식에 대한 설명</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05" name="TextBox 75"/>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06" name="TextBox 76"/>
          <p:cNvSpPr/>
          <p:nvPr/>
        </p:nvSpPr>
        <p:spPr>
          <a:xfrm>
            <a:off x="1293840" y="138240"/>
            <a:ext cx="70700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주요 처리로직 </a:t>
            </a:r>
            <a:r>
              <a:rPr b="0" lang="en-US" sz="4000" spc="-150" strike="noStrike" u="none">
                <a:solidFill>
                  <a:srgbClr val="000000"/>
                </a:solidFill>
                <a:effectLst/>
                <a:uFillTx/>
                <a:latin typeface="나눔스퀘어 ExtraBold"/>
                <a:ea typeface="나눔스퀘어 ExtraBold"/>
              </a:rPr>
              <a:t>Consumer(</a:t>
            </a:r>
            <a:r>
              <a:rPr b="0" lang="ko-KR" sz="4000" spc="-150" strike="noStrike" u="none">
                <a:solidFill>
                  <a:srgbClr val="000000"/>
                </a:solidFill>
                <a:effectLst/>
                <a:uFillTx/>
                <a:latin typeface="나눔스퀘어 ExtraBold"/>
                <a:ea typeface="나눔스퀘어 ExtraBold"/>
              </a:rPr>
              <a:t>배치</a:t>
            </a:r>
            <a:r>
              <a:rPr b="0" lang="en-US" sz="4000" spc="-150" strike="noStrike" u="none">
                <a:solidFill>
                  <a:srgbClr val="000000"/>
                </a:solidFill>
                <a:effectLst/>
                <a:uFillTx/>
                <a:latin typeface="나눔스퀘어 ExtraBold"/>
                <a:ea typeface="나눔스퀘어 ExtraBold"/>
              </a:rPr>
              <a:t>)</a:t>
            </a:r>
            <a:endParaRPr b="0" lang="en-US" sz="4000" strike="noStrike" u="none">
              <a:solidFill>
                <a:srgbClr val="000000"/>
              </a:solidFill>
              <a:effectLst/>
              <a:uFillTx/>
              <a:latin typeface="Arial"/>
            </a:endParaRPr>
          </a:p>
        </p:txBody>
      </p:sp>
      <p:sp>
        <p:nvSpPr>
          <p:cNvPr id="107" name="TextBox 77"/>
          <p:cNvSpPr/>
          <p:nvPr/>
        </p:nvSpPr>
        <p:spPr>
          <a:xfrm>
            <a:off x="1042920" y="1890720"/>
            <a:ext cx="7652520" cy="1004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Spark </a:t>
            </a:r>
            <a:r>
              <a:rPr b="0" lang="ko-KR" sz="2000" spc="-150" strike="noStrike" u="none">
                <a:solidFill>
                  <a:srgbClr val="000000"/>
                </a:solidFill>
                <a:effectLst/>
                <a:uFillTx/>
                <a:latin typeface="나눔스퀘어 ExtraBold"/>
                <a:ea typeface="나눔스퀘어 ExtraBold"/>
              </a:rPr>
              <a:t>배치 적재로직 코드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Sshoperator </a:t>
            </a:r>
            <a:r>
              <a:rPr b="0" lang="ko-KR" sz="2000" spc="-150" strike="noStrike" u="none">
                <a:solidFill>
                  <a:srgbClr val="000000"/>
                </a:solidFill>
                <a:effectLst/>
                <a:uFillTx/>
                <a:latin typeface="나눔스퀘어 ExtraBold"/>
                <a:ea typeface="나눔스퀘어 ExtraBold"/>
              </a:rPr>
              <a:t>사용 이유 및 인프라 구성</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목적 및 처리방식에 대한 설명</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전략</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08" name="TextBox 78"/>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09" name="TextBox 79"/>
          <p:cNvSpPr/>
          <p:nvPr/>
        </p:nvSpPr>
        <p:spPr>
          <a:xfrm>
            <a:off x="1072080" y="138240"/>
            <a:ext cx="751392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주요 처리로직 </a:t>
            </a:r>
            <a:r>
              <a:rPr b="0" lang="en-US" sz="4000" spc="-150" strike="noStrike" u="none">
                <a:solidFill>
                  <a:srgbClr val="000000"/>
                </a:solidFill>
                <a:effectLst/>
                <a:uFillTx/>
                <a:latin typeface="나눔스퀘어 ExtraBold"/>
                <a:ea typeface="나눔스퀘어 ExtraBold"/>
              </a:rPr>
              <a:t>Consumer(</a:t>
            </a:r>
            <a:r>
              <a:rPr b="0" lang="ko-KR" sz="4000" spc="-150" strike="noStrike" u="none">
                <a:solidFill>
                  <a:srgbClr val="000000"/>
                </a:solidFill>
                <a:effectLst/>
                <a:uFillTx/>
                <a:latin typeface="나눔스퀘어 ExtraBold"/>
                <a:ea typeface="나눔스퀘어 ExtraBold"/>
              </a:rPr>
              <a:t>실시간</a:t>
            </a:r>
            <a:r>
              <a:rPr b="0" lang="en-US" sz="4000" spc="-150" strike="noStrike" u="none">
                <a:solidFill>
                  <a:srgbClr val="000000"/>
                </a:solidFill>
                <a:effectLst/>
                <a:uFillTx/>
                <a:latin typeface="나눔스퀘어 ExtraBold"/>
                <a:ea typeface="나눔스퀘어 ExtraBold"/>
              </a:rPr>
              <a:t>)</a:t>
            </a:r>
            <a:endParaRPr b="0" lang="en-US" sz="4000" strike="noStrike" u="none">
              <a:solidFill>
                <a:srgbClr val="000000"/>
              </a:solidFill>
              <a:effectLst/>
              <a:uFillTx/>
              <a:latin typeface="Arial"/>
            </a:endParaRPr>
          </a:p>
        </p:txBody>
      </p:sp>
      <p:sp>
        <p:nvSpPr>
          <p:cNvPr id="110" name="TextBox 80"/>
          <p:cNvSpPr/>
          <p:nvPr/>
        </p:nvSpPr>
        <p:spPr>
          <a:xfrm>
            <a:off x="1042920" y="1890720"/>
            <a:ext cx="765252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Spark </a:t>
            </a:r>
            <a:r>
              <a:rPr b="0" lang="ko-KR" sz="2000" spc="-150" strike="noStrike" u="none">
                <a:solidFill>
                  <a:srgbClr val="000000"/>
                </a:solidFill>
                <a:effectLst/>
                <a:uFillTx/>
                <a:latin typeface="나눔스퀘어 ExtraBold"/>
                <a:ea typeface="나눔스퀘어 ExtraBold"/>
              </a:rPr>
              <a:t>실시간 처리로직 코드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Sshoperator </a:t>
            </a:r>
            <a:r>
              <a:rPr b="0" lang="ko-KR" sz="2000" spc="-150" strike="noStrike" u="none">
                <a:solidFill>
                  <a:srgbClr val="000000"/>
                </a:solidFill>
                <a:effectLst/>
                <a:uFillTx/>
                <a:latin typeface="나눔스퀘어 ExtraBold"/>
                <a:ea typeface="나눔스퀘어 ExtraBold"/>
              </a:rPr>
              <a:t>사용 이유 및 인프라 구성</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목적 및 처리방식에 대한 설명</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전략</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microbatch</a:t>
            </a:r>
            <a:r>
              <a:rPr b="0" lang="ko-KR" sz="2000" spc="-150" strike="noStrike" u="none">
                <a:solidFill>
                  <a:srgbClr val="000000"/>
                </a:solidFill>
                <a:effectLst/>
                <a:uFillTx/>
                <a:latin typeface="나눔스퀘어 ExtraBold"/>
                <a:ea typeface="나눔스퀘어 ExtraBold"/>
              </a:rPr>
              <a:t>를 어떻게 설정했고 하는 내용들</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11" name="TextBox 81"/>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12" name="TextBox 82"/>
          <p:cNvSpPr/>
          <p:nvPr/>
        </p:nvSpPr>
        <p:spPr>
          <a:xfrm>
            <a:off x="3198960" y="138240"/>
            <a:ext cx="326232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4000" spc="-150" strike="noStrike" u="none">
                <a:solidFill>
                  <a:srgbClr val="000000"/>
                </a:solidFill>
                <a:effectLst/>
                <a:uFillTx/>
                <a:latin typeface="나눔스퀘어 ExtraBold"/>
                <a:ea typeface="나눔스퀘어 ExtraBold"/>
              </a:rPr>
              <a:t>Why Airflow?</a:t>
            </a:r>
            <a:endParaRPr b="0" lang="en-US" sz="4000" strike="noStrike" u="none">
              <a:solidFill>
                <a:srgbClr val="000000"/>
              </a:solidFill>
              <a:effectLst/>
              <a:uFillTx/>
              <a:latin typeface="Arial"/>
            </a:endParaRPr>
          </a:p>
        </p:txBody>
      </p:sp>
      <p:sp>
        <p:nvSpPr>
          <p:cNvPr id="113" name="TextBox 83"/>
          <p:cNvSpPr/>
          <p:nvPr/>
        </p:nvSpPr>
        <p:spPr>
          <a:xfrm>
            <a:off x="1042920" y="1890720"/>
            <a:ext cx="8108640" cy="1004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Airflow</a:t>
            </a:r>
            <a:r>
              <a:rPr b="0" lang="ko-KR" sz="2000" spc="-150" strike="noStrike" u="none">
                <a:solidFill>
                  <a:srgbClr val="000000"/>
                </a:solidFill>
                <a:effectLst/>
                <a:uFillTx/>
                <a:latin typeface="나눔스퀘어 ExtraBold"/>
                <a:ea typeface="나눔스퀘어 ExtraBold"/>
              </a:rPr>
              <a:t>를 사용한 이유에 대한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ko-KR" sz="2000" spc="-150" strike="noStrike" u="none">
                <a:solidFill>
                  <a:srgbClr val="000000"/>
                </a:solidFill>
                <a:effectLst/>
                <a:uFillTx/>
                <a:latin typeface="나눔스퀘어 ExtraBold"/>
                <a:ea typeface="나눔스퀘어 ExtraBold"/>
              </a:rPr>
              <a:t>장점 및 아키텍처 구성에 대한 설명</a:t>
            </a:r>
            <a:r>
              <a:rPr b="0" lang="en-US" sz="2000" spc="-150" strike="noStrike" u="none">
                <a:solidFill>
                  <a:srgbClr val="000000"/>
                </a:solidFill>
                <a:effectLst/>
                <a:uFillTx/>
                <a:latin typeface="나눔스퀘어 ExtraBold"/>
                <a:ea typeface="나눔스퀘어 ExtraBold"/>
              </a:rPr>
              <a:t>. oozie</a:t>
            </a:r>
            <a:r>
              <a:rPr b="0" lang="ko-KR" sz="2000" spc="-150" strike="noStrike" u="none">
                <a:solidFill>
                  <a:srgbClr val="000000"/>
                </a:solidFill>
                <a:effectLst/>
                <a:uFillTx/>
                <a:latin typeface="나눔스퀘어 ExtraBold"/>
                <a:ea typeface="나눔스퀘어 ExtraBold"/>
              </a:rPr>
              <a:t>같은 도구를 써봤으니 이와 비교한 장점 등</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14" name="TextBox 84"/>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15" name="TextBox 85"/>
          <p:cNvSpPr/>
          <p:nvPr/>
        </p:nvSpPr>
        <p:spPr>
          <a:xfrm>
            <a:off x="3000960" y="138240"/>
            <a:ext cx="36572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4000" spc="-150" strike="noStrike" u="none">
                <a:solidFill>
                  <a:srgbClr val="000000"/>
                </a:solidFill>
                <a:effectLst/>
                <a:uFillTx/>
                <a:latin typeface="나눔스퀘어 ExtraBold"/>
                <a:ea typeface="나눔스퀘어 ExtraBold"/>
              </a:rPr>
              <a:t>BI </a:t>
            </a:r>
            <a:r>
              <a:rPr b="0" lang="ko-KR" sz="4000" spc="-150" strike="noStrike" u="none">
                <a:solidFill>
                  <a:srgbClr val="000000"/>
                </a:solidFill>
                <a:effectLst/>
                <a:uFillTx/>
                <a:latin typeface="나눔스퀘어 ExtraBold"/>
                <a:ea typeface="나눔스퀘어 ExtraBold"/>
              </a:rPr>
              <a:t>마트 구성내용</a:t>
            </a:r>
            <a:endParaRPr b="0" lang="en-US" sz="4000" strike="noStrike" u="none">
              <a:solidFill>
                <a:srgbClr val="000000"/>
              </a:solidFill>
              <a:effectLst/>
              <a:uFillTx/>
              <a:latin typeface="Arial"/>
            </a:endParaRPr>
          </a:p>
        </p:txBody>
      </p:sp>
      <p:sp>
        <p:nvSpPr>
          <p:cNvPr id="116" name="TextBox 86"/>
          <p:cNvSpPr/>
          <p:nvPr/>
        </p:nvSpPr>
        <p:spPr>
          <a:xfrm>
            <a:off x="1042920" y="1890720"/>
            <a:ext cx="450900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Apache Superset + pgsql </a:t>
            </a:r>
            <a:r>
              <a:rPr b="0" lang="ko-KR" sz="2000" spc="-150" strike="noStrike" u="none">
                <a:solidFill>
                  <a:srgbClr val="000000"/>
                </a:solidFill>
                <a:effectLst/>
                <a:uFillTx/>
                <a:latin typeface="나눔스퀘어 ExtraBold"/>
                <a:ea typeface="나눔스퀘어 ExtraBold"/>
              </a:rPr>
              <a:t>조합 기반의 구성</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ko-KR" sz="2000" spc="-150" strike="noStrike" u="none">
                <a:solidFill>
                  <a:srgbClr val="000000"/>
                </a:solidFill>
                <a:effectLst/>
                <a:uFillTx/>
                <a:latin typeface="나눔스퀘어 ExtraBold"/>
                <a:ea typeface="나눔스퀘어 ExtraBold"/>
              </a:rPr>
              <a:t>왜 이 기술을 선택했는지에 대한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17" name="TextBox 87"/>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18" name="TextBox 88"/>
          <p:cNvSpPr/>
          <p:nvPr/>
        </p:nvSpPr>
        <p:spPr>
          <a:xfrm>
            <a:off x="3347280" y="138240"/>
            <a:ext cx="296424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ko-KR" sz="4000" spc="-150" strike="noStrike" u="none">
                <a:solidFill>
                  <a:srgbClr val="000000"/>
                </a:solidFill>
                <a:effectLst/>
                <a:uFillTx/>
                <a:latin typeface="나눔스퀘어 ExtraBold"/>
                <a:ea typeface="나눔스퀘어 ExtraBold"/>
              </a:rPr>
              <a:t>대시보드 구성</a:t>
            </a:r>
            <a:endParaRPr b="0" lang="en-US" sz="4000" strike="noStrike" u="none">
              <a:solidFill>
                <a:srgbClr val="000000"/>
              </a:solidFill>
              <a:effectLst/>
              <a:uFillTx/>
              <a:latin typeface="Arial"/>
            </a:endParaRPr>
          </a:p>
        </p:txBody>
      </p:sp>
      <p:sp>
        <p:nvSpPr>
          <p:cNvPr id="119" name="TextBox 89"/>
          <p:cNvSpPr/>
          <p:nvPr/>
        </p:nvSpPr>
        <p:spPr>
          <a:xfrm>
            <a:off x="1042920" y="1890720"/>
            <a:ext cx="5231520" cy="16142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000" spc="-150" strike="noStrike" u="none">
                <a:solidFill>
                  <a:srgbClr val="000000"/>
                </a:solidFill>
                <a:effectLst/>
                <a:uFillTx/>
                <a:latin typeface="나눔스퀘어 ExtraBold"/>
                <a:ea typeface="나눔스퀘어 ExtraBold"/>
              </a:rPr>
              <a:t>Daily </a:t>
            </a:r>
            <a:r>
              <a:rPr b="0" lang="ko-KR" sz="2000" spc="-150" strike="noStrike" u="none">
                <a:solidFill>
                  <a:srgbClr val="000000"/>
                </a:solidFill>
                <a:effectLst/>
                <a:uFillTx/>
                <a:latin typeface="나눔스퀘어 ExtraBold"/>
                <a:ea typeface="나눔스퀘어 ExtraBold"/>
              </a:rPr>
              <a:t>배치 기반 마트 내용 차트 및 대시보드 내용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ko-KR" sz="2000" spc="-150" strike="noStrike" u="none">
                <a:solidFill>
                  <a:srgbClr val="000000"/>
                </a:solidFill>
                <a:effectLst/>
                <a:uFillTx/>
                <a:latin typeface="나눔스퀘어 ExtraBold"/>
                <a:ea typeface="나눔스퀘어 ExtraBold"/>
              </a:rPr>
              <a:t>실시간 스트리밍 처리 내용 차트 및 대시보드 내용 설명</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120" name="TextBox 90"/>
          <p:cNvSpPr/>
          <p:nvPr/>
        </p:nvSpPr>
        <p:spPr>
          <a:xfrm rot="5400000">
            <a:off x="-312480" y="3314880"/>
            <a:ext cx="1149120" cy="227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900" spc="300" strike="noStrike" u="none">
                <a:solidFill>
                  <a:schemeClr val="lt1">
                    <a:lumMod val="95000"/>
                  </a:schemeClr>
                </a:solidFill>
                <a:effectLst/>
                <a:uFillTx/>
                <a:latin typeface="나눔스퀘어"/>
                <a:ea typeface="나눔스퀘어"/>
              </a:rPr>
              <a:t>2020.01.01</a:t>
            </a:r>
            <a:endParaRPr b="0" lang="en-US" sz="900" strike="noStrike" u="none">
              <a:solidFill>
                <a:srgbClr val="000000"/>
              </a:solidFill>
              <a:effectLst/>
              <a:uFillTx/>
              <a:latin typeface="Arial"/>
            </a:endParaRPr>
          </a:p>
        </p:txBody>
      </p:sp>
      <p:sp>
        <p:nvSpPr>
          <p:cNvPr id="121" name="TextBox 91"/>
          <p:cNvSpPr/>
          <p:nvPr/>
        </p:nvSpPr>
        <p:spPr>
          <a:xfrm>
            <a:off x="1365840" y="138240"/>
            <a:ext cx="6930360" cy="6998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4000" spc="-150" strike="noStrike" u="none">
                <a:solidFill>
                  <a:srgbClr val="000000"/>
                </a:solidFill>
                <a:effectLst/>
                <a:uFillTx/>
                <a:latin typeface="나눔스퀘어 ExtraBold"/>
                <a:ea typeface="나눔스퀘어 ExtraBold"/>
              </a:rPr>
              <a:t>TODO </a:t>
            </a:r>
            <a:r>
              <a:rPr b="0" lang="ko-KR" sz="4000" spc="-150" strike="noStrike" u="none">
                <a:solidFill>
                  <a:srgbClr val="000000"/>
                </a:solidFill>
                <a:effectLst/>
                <a:uFillTx/>
                <a:latin typeface="나눔스퀘어 ExtraBold"/>
                <a:ea typeface="나눔스퀘어 ExtraBold"/>
              </a:rPr>
              <a:t>다음에 더 개선해야할 부분</a:t>
            </a:r>
            <a:endParaRPr b="0" lang="en-US" sz="4000" strike="noStrike" u="none">
              <a:solidFill>
                <a:srgbClr val="000000"/>
              </a:solidFill>
              <a:effectLst/>
              <a:uFillTx/>
              <a:latin typeface="Arial"/>
            </a:endParaRPr>
          </a:p>
        </p:txBody>
      </p:sp>
      <p:sp>
        <p:nvSpPr>
          <p:cNvPr id="122" name="TextBox 92"/>
          <p:cNvSpPr/>
          <p:nvPr/>
        </p:nvSpPr>
        <p:spPr>
          <a:xfrm>
            <a:off x="1042920" y="1890720"/>
            <a:ext cx="7924320" cy="22240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ko-KR" sz="2000" spc="-150" strike="noStrike" u="none">
                <a:solidFill>
                  <a:srgbClr val="000000"/>
                </a:solidFill>
                <a:effectLst/>
                <a:uFillTx/>
                <a:latin typeface="나눔스퀘어 ExtraBold"/>
                <a:ea typeface="나눔스퀘어 ExtraBold"/>
              </a:rPr>
              <a:t>모니터링 및 알림구성</a:t>
            </a:r>
            <a:r>
              <a:rPr b="0" lang="en-US" sz="2000" spc="-150" strike="noStrike" u="none">
                <a:solidFill>
                  <a:srgbClr val="000000"/>
                </a:solidFill>
                <a:effectLst/>
                <a:uFillTx/>
                <a:latin typeface="나눔스퀘어 ExtraBold"/>
                <a:ea typeface="나눔스퀘어 ExtraBold"/>
              </a:rPr>
              <a:t>(Prometheus + Grafana, Loki, email </a:t>
            </a:r>
            <a:r>
              <a:rPr b="0" lang="ko-KR" sz="2000" spc="-150" strike="noStrike" u="none">
                <a:solidFill>
                  <a:srgbClr val="000000"/>
                </a:solidFill>
                <a:effectLst/>
                <a:uFillTx/>
                <a:latin typeface="나눔스퀘어 ExtraBold"/>
                <a:ea typeface="나눔스퀘어 ExtraBold"/>
              </a:rPr>
              <a:t>전송</a:t>
            </a:r>
            <a:r>
              <a:rPr b="0" lang="en-US" sz="2000" spc="-150" strike="noStrike" u="none">
                <a:solidFill>
                  <a:srgbClr val="000000"/>
                </a:solidFill>
                <a:effectLst/>
                <a:uFillTx/>
                <a:latin typeface="나눔스퀘어 ExtraBold"/>
                <a:ea typeface="나눔스퀘어 ExtraBold"/>
              </a:rPr>
              <a:t>) </a:t>
            </a:r>
            <a:r>
              <a:rPr b="0" lang="ko-KR" sz="2000" spc="-150" strike="noStrike" u="none">
                <a:solidFill>
                  <a:srgbClr val="000000"/>
                </a:solidFill>
                <a:effectLst/>
                <a:uFillTx/>
                <a:latin typeface="나눔스퀘어 ExtraBold"/>
                <a:ea typeface="나눔스퀘어 ExtraBold"/>
              </a:rPr>
              <a:t>같은 내용들</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r>
              <a:rPr b="0" lang="en-US" sz="2000" spc="-150" strike="noStrike" u="none">
                <a:solidFill>
                  <a:srgbClr val="000000"/>
                </a:solidFill>
                <a:effectLst/>
                <a:uFillTx/>
                <a:latin typeface="나눔스퀘어 ExtraBold"/>
                <a:ea typeface="나눔스퀘어 ExtraBold"/>
              </a:rPr>
              <a:t>CI/CD </a:t>
            </a:r>
            <a:r>
              <a:rPr b="0" lang="ko-KR" sz="2000" spc="-150" strike="noStrike" u="none">
                <a:solidFill>
                  <a:srgbClr val="000000"/>
                </a:solidFill>
                <a:effectLst/>
                <a:uFillTx/>
                <a:latin typeface="나눔스퀘어 ExtraBold"/>
                <a:ea typeface="나눔스퀘어 ExtraBold"/>
              </a:rPr>
              <a:t>전략내용</a:t>
            </a:r>
            <a:r>
              <a:rPr b="0" lang="en-US" sz="2000" spc="-150" strike="noStrike" u="none">
                <a:solidFill>
                  <a:srgbClr val="000000"/>
                </a:solidFill>
                <a:effectLst/>
                <a:uFillTx/>
                <a:latin typeface="나눔스퀘어 ExtraBold"/>
                <a:ea typeface="나눔스퀘어 ExtraBold"/>
              </a:rPr>
              <a:t>. gitlab</a:t>
            </a:r>
            <a:r>
              <a:rPr b="0" lang="ko-KR" sz="2000" spc="-150" strike="noStrike" u="none">
                <a:solidFill>
                  <a:srgbClr val="000000"/>
                </a:solidFill>
                <a:effectLst/>
                <a:uFillTx/>
                <a:latin typeface="나눔스퀘어 ExtraBold"/>
                <a:ea typeface="나눔스퀘어 ExtraBold"/>
              </a:rPr>
              <a:t>같은 배포구성에 대한 설명들</a:t>
            </a: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a:p>
            <a:pPr defTabSz="914400">
              <a:lnSpc>
                <a:spcPct val="100000"/>
              </a:lnSpc>
            </a:pP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pitchFamily="0" charset="1"/>
        <a:ea typeface=""/>
        <a:cs typeface=""/>
      </a:majorFont>
      <a:minorFont>
        <a:latin typeface="맑은 고딕"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207</TotalTime>
  <Application>LibreOffice/25.8.3.2$Windows_X86_64 LibreOffice_project/8ca8d55c161d602844f5428fa4b58097424e324e</Application>
  <AppVersion>15.0000</AppVersion>
  <Words>193</Words>
  <Paragraphs>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2019-05-12T14:01:22Z</dcterms:created>
  <dc:creator>이 승원</dc:creator>
  <dc:description/>
  <dc:language>en-US</dc:language>
  <cp:lastModifiedBy/>
  <dcterms:modified xsi:type="dcterms:W3CDTF">2026-02-05T01:43:38Z</dcterms:modified>
  <cp:revision>56</cp:revision>
  <dc:subject/>
  <dc:title>PowerPoint 프레젠테이션</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와이드스크린</vt:lpwstr>
  </property>
  <property fmtid="{D5CDD505-2E9C-101B-9397-08002B2CF9AE}" pid="3" name="Slides">
    <vt:i4>9</vt:i4>
  </property>
</Properties>
</file>